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Stent Optimization Pipeline</a:t>
            </a:r>
          </a:p>
          <a:p>
            <a:pPr algn="ctr">
              <a:spcBef>
                <a:spcPts val="1200"/>
              </a:spcBef>
              <a:defRPr sz="2000">
                <a:solidFill>
                  <a:srgbClr val="555555"/>
                </a:solidFill>
              </a:defRPr>
            </a:pPr>
            <a:r>
              <a:t>Parametric Design • CFD • Bayesian Surrogate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Validation: Maulik &amp; Taira (2020)</a:t>
            </a:r>
          </a:p>
          <a:p>
            <a:pPr>
              <a:spcBef>
                <a:spcPts val="400"/>
              </a:spcBef>
              <a:defRPr sz="1800">
                <a:solidFill>
                  <a:srgbClr val="555555"/>
                </a:solidFill>
              </a:defRPr>
            </a:pPr>
            <a:r>
              <a:t>Phys. Rev. Fluids 5, 104401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Key Finding: Fluid flow fields can be effectively modeled as probabilistic Gaussian distributions.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4572000" cy="3657600"/>
          </a:xfrm>
          <a:prstGeom prst="roundRect">
            <a:avLst/>
          </a:prstGeom>
          <a:solidFill>
            <a:srgbClr val="F0F0F0"/>
          </a:solidFill>
          <a:ln>
            <a:solidFill>
              <a:srgbClr val="99999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[ PASTE FIGURE 1 FROM PAPER (PNN Architecture) HERE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286000"/>
            <a:ext cx="4572000" cy="3657600"/>
          </a:xfrm>
          <a:prstGeom prst="roundRect">
            <a:avLst/>
          </a:prstGeom>
          <a:solidFill>
            <a:srgbClr val="F0F0F0"/>
          </a:solidFill>
          <a:ln>
            <a:solidFill>
              <a:srgbClr val="99999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[ PASTE EQ 2 FROM PAPER (Gaussian Output) HERE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Methodology: Data-Efficient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The Paper's PNN vs. My GP Approach</a:t>
            </a:r>
          </a:p>
          <a:p>
            <a:pPr>
              <a:spcBef>
                <a:spcPts val="800"/>
              </a:spcBef>
              <a:defRPr sz="1600"/>
            </a:pPr>
            <a:r>
              <a:t>Maulik &amp; Taira use Probabilistic NNs</a:t>
            </a:r>
          </a:p>
          <a:p>
            <a:pPr>
              <a:spcBef>
                <a:spcPts val="800"/>
              </a:spcBef>
              <a:defRPr sz="1600"/>
            </a:pPr>
            <a:r>
              <a:t>→ Requires 1000s of snapshots (High Data)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I use Gaussian Processes (Kriging)</a:t>
            </a:r>
          </a:p>
          <a:p>
            <a:pPr>
              <a:spcBef>
                <a:spcPts val="800"/>
              </a:spcBef>
              <a:defRPr sz="1600"/>
            </a:pPr>
            <a:r>
              <a:t>→ Works with &lt;200 snapshots (Low Data)</a:t>
            </a:r>
          </a:p>
          <a:p>
            <a:pPr>
              <a:spcBef>
                <a:spcPts val="800"/>
              </a:spcBef>
              <a:defRPr sz="1600"/>
            </a:pPr>
            <a:r>
              <a:t>→ COMSOL is expensive (hours/run)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Result: Same physical validity (Gaussian assumption), but feasible for my compute budget.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645920"/>
            <a:ext cx="5486400" cy="4114800"/>
          </a:xfrm>
          <a:prstGeom prst="roundRect">
            <a:avLst/>
          </a:prstGeom>
          <a:solidFill>
            <a:srgbClr val="F0F0F0"/>
          </a:solidFill>
          <a:ln>
            <a:solidFill>
              <a:srgbClr val="99999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[ PASTE FIGURE showing uncertainty bounds (shaded) HERE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Pipeline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201168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0000"/>
                </a:solidFill>
              </a:defRPr>
            </a:pPr>
            <a:r>
              <a:t>1. CAD</a:t>
            </a:r>
          </a:p>
          <a:p>
            <a:pPr algn="ctr">
              <a:defRPr sz="1200">
                <a:solidFill>
                  <a:srgbClr val="555555"/>
                </a:solidFill>
              </a:defRPr>
            </a:pPr>
            <a:r>
              <a:t>Parametric Geometry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2743200"/>
            <a:ext cx="201168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0000"/>
                </a:solidFill>
              </a:defRPr>
            </a:pPr>
            <a:r>
              <a:t>2. Sampling</a:t>
            </a:r>
          </a:p>
          <a:p>
            <a:pPr algn="ctr">
              <a:defRPr sz="1200">
                <a:solidFill>
                  <a:srgbClr val="555555"/>
                </a:solidFill>
              </a:defRPr>
            </a:pPr>
            <a:r>
              <a:t>LHS Space-Filling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2743200"/>
            <a:ext cx="201168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0000"/>
                </a:solidFill>
              </a:defRPr>
            </a:pPr>
            <a:r>
              <a:t>3. Simulation</a:t>
            </a:r>
          </a:p>
          <a:p>
            <a:pPr algn="ctr">
              <a:defRPr sz="1200">
                <a:solidFill>
                  <a:srgbClr val="555555"/>
                </a:solidFill>
              </a:defRPr>
            </a:pPr>
            <a:r>
              <a:t>COMSOL CFD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743200"/>
            <a:ext cx="201168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0000"/>
                </a:solidFill>
              </a:defRPr>
            </a:pPr>
            <a:r>
              <a:t>4. Surrogate</a:t>
            </a:r>
          </a:p>
          <a:p>
            <a:pPr algn="ctr">
              <a:defRPr sz="1200">
                <a:solidFill>
                  <a:srgbClr val="555555"/>
                </a:solidFill>
              </a:defRPr>
            </a:pPr>
            <a:r>
              <a:t>Gaussian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0" y="2743200"/>
            <a:ext cx="201168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0000"/>
                </a:solidFill>
              </a:defRPr>
            </a:pPr>
            <a:r>
              <a:t>5. Optimization</a:t>
            </a:r>
          </a:p>
          <a:p>
            <a:pPr algn="ctr">
              <a:defRPr sz="1200">
                <a:solidFill>
                  <a:srgbClr val="555555"/>
                </a:solidFill>
              </a:defRPr>
            </a:pPr>
            <a:r>
              <a:t>Bayesian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1. Parametric CAD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640080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</a:defRPr>
            </a:pPr>
            <a:r>
              <a:t>  src/cad/stent_generator.py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6400800" cy="4297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tIns="127000"/>
          <a:lstStyle/>
          <a:p>
            <a:pPr algn="ctr">
              <a:defRPr sz="1100">
                <a:solidFill>
                  <a:srgbClr val="D4D4D4"/>
                </a:solidFill>
                <a:latin typeface="Consolas"/>
              </a:defRPr>
            </a:pPr>
            <a:r>
              <a:t>@dataclass</a:t>
            </a:r>
            <a:br/>
            <a:r>
              <a:t>class StentParameters:</a:t>
            </a:r>
            <a:br/>
            <a:r>
              <a:t>    stent_french: float = 6.0</a:t>
            </a:r>
            <a:br/>
            <a:r>
              <a:t>    # Ratios guarantee feasibility [0-1]</a:t>
            </a:r>
            <a:br/>
            <a:r>
              <a:t>    r_t: float = 0.15   # Wall thickness</a:t>
            </a:r>
            <a:br/>
            <a:r>
              <a:t>    r_sh: float = 0.5   # Side hole dia</a:t>
            </a:r>
            <a:br/>
            <a:r>
              <a:t>    </a:t>
            </a:r>
            <a:br/>
            <a:r>
              <a:t>    def validate(self):</a:t>
            </a:r>
            <a:br/>
            <a:r>
              <a:t>        if self.ID &lt; 0.6: raise ValueError</a:t>
            </a:r>
            <a:br/>
            <a:r>
              <a:t>        </a:t>
            </a:r>
            <a:br/>
            <a:r>
              <a:t>gen = StentGenerator(params)</a:t>
            </a:r>
            <a:br/>
            <a:r>
              <a:t>gen.export_step("design.step")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8288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Features:</a:t>
            </a:r>
          </a:p>
          <a:p>
            <a:r>
              <a:t>• 16 Design Parameters</a:t>
            </a:r>
            <a:br/>
            <a:r>
              <a:t>• Build123d geometry kernel</a:t>
            </a:r>
            <a:br/>
            <a:r>
              <a:t>• Automatic constraint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2. LHS Sampling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640080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</a:defRPr>
            </a:pPr>
            <a:r>
              <a:t>  src/sampling/lhs_generator.py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6400800" cy="4297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tIns="127000"/>
          <a:lstStyle/>
          <a:p>
            <a:pPr algn="ctr">
              <a:defRPr sz="1100">
                <a:solidFill>
                  <a:srgbClr val="D4D4D4"/>
                </a:solidFill>
                <a:latin typeface="Consolas"/>
              </a:defRPr>
            </a:pPr>
            <a:r>
              <a:t>from scipy.stats import qmc</a:t>
            </a:r>
            <a:br/>
            <a:br/>
            <a:r>
              <a:t># Latin Hypercube Sampling</a:t>
            </a:r>
            <a:br/>
            <a:r>
              <a:t>sampler = qmc.LatinHypercube(d=16)</a:t>
            </a:r>
            <a:br/>
            <a:r>
              <a:t>samples = sampler.random(n=180)</a:t>
            </a:r>
            <a:br/>
            <a:br/>
            <a:r>
              <a:t># Feasibility Filter</a:t>
            </a:r>
            <a:br/>
            <a:r>
              <a:t>valid_designs = []</a:t>
            </a:r>
            <a:br/>
            <a:r>
              <a:t>for s in samples:</a:t>
            </a:r>
            <a:br/>
            <a:r>
              <a:t>   if check_constraints(s):</a:t>
            </a:r>
            <a:br/>
            <a:r>
              <a:t>       valid_designs.append(s)</a:t>
            </a:r>
            <a:br/>
            <a:r>
              <a:t>       </a:t>
            </a:r>
            <a:br/>
            <a:r>
              <a:t># Result: ~60 valid designs for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F0F0F0"/>
          </a:solidFill>
          <a:ln>
            <a:solidFill>
              <a:srgbClr val="99999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[ PASTE SCATTER PLOT OF SAMPLES HERE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3. CFD Simulation (COMSOL)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058400" cy="4572000"/>
          </a:xfrm>
          <a:prstGeom prst="roundRect">
            <a:avLst/>
          </a:prstGeom>
          <a:solidFill>
            <a:srgbClr val="F0F0F0"/>
          </a:solidFill>
          <a:ln>
            <a:solidFill>
              <a:srgbClr val="99999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[ PASTE SCREENSHOT OF COMSOL MESH / VELOCITY FIELD HERE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4. Gaussian Process Surrogate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640080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</a:defRPr>
            </a:pPr>
            <a:r>
              <a:t>  src/surrogate/gp_model.py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6400800" cy="4297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tIns="127000"/>
          <a:lstStyle/>
          <a:p>
            <a:pPr algn="ctr">
              <a:defRPr sz="1100">
                <a:solidFill>
                  <a:srgbClr val="D4D4D4"/>
                </a:solidFill>
                <a:latin typeface="Consolas"/>
              </a:defRPr>
            </a:pPr>
            <a:r>
              <a:t>class GPModel:</a:t>
            </a:r>
            <a:br/>
            <a:r>
              <a:t>    def fit(self, X, y):</a:t>
            </a:r>
            <a:br/>
            <a:r>
              <a:t>        # Matérn 5/2 kernel (Standard for Fluids)</a:t>
            </a:r>
            <a:br/>
            <a:r>
              <a:t>        # ARD (Automatic Relevance Determination)</a:t>
            </a:r>
            <a:br/>
            <a:r>
              <a:t>        covar = ScaleKernel(</a:t>
            </a:r>
            <a:br/>
            <a:r>
              <a:t>            MaternKernel(nu=2.5, ard_num_dims=16)</a:t>
            </a:r>
            <a:br/>
            <a:r>
              <a:t>        )</a:t>
            </a:r>
            <a:br/>
            <a:r>
              <a:t>        self.model = SingleTaskGP(X, y, covar)</a:t>
            </a:r>
            <a:br/>
            <a:br/>
            <a:r>
              <a:t>    def predict(self, X):</a:t>
            </a:r>
            <a:br/>
            <a:r>
              <a:t>        # Returns Mean AND Variance</a:t>
            </a:r>
            <a:br/>
            <a:r>
              <a:t>        return model.posterior(X)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8288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Why Matérn 5/2?</a:t>
            </a:r>
          </a:p>
          <a:p>
            <a:r>
              <a:t>Matches the smoothness properties of fluid flow (infinite smoothness of RBF is unrealistic for turbulence/transitions).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5. Bayesian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Objectives:</a:t>
            </a:r>
          </a:p>
          <a:p>
            <a:pPr>
              <a:spcBef>
                <a:spcPts val="800"/>
              </a:spcBef>
              <a:defRPr sz="2000">
                <a:latin typeface="Arial"/>
              </a:defRPr>
            </a:pPr>
            <a:r>
              <a:t>  Minimize Pressure Drop:   min ΔP(x)</a:t>
            </a:r>
          </a:p>
          <a:p>
            <a:pPr>
              <a:spcBef>
                <a:spcPts val="800"/>
              </a:spcBef>
              <a:defRPr sz="2000">
                <a:latin typeface="Arial"/>
              </a:defRPr>
            </a:pPr>
            <a:r>
              <a:t>  Maximize Total Flow:      max Q_total(x)</a:t>
            </a:r>
          </a:p>
          <a:p>
            <a:pPr>
              <a:spcBef>
                <a:spcPts val="800"/>
              </a:spcBef>
              <a:defRPr sz="2000">
                <a:latin typeface="Arial"/>
              </a:defRPr>
            </a:pPr>
            <a:r>
              <a:t>  Minimize Uniformity Coeff: min CV(Q_sh)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0"/>
            <a:ext cx="640080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</a:defRPr>
            </a:pPr>
            <a:r>
              <a:t>  src/optimization/optimizer.py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6400800" cy="2468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tIns="127000"/>
          <a:lstStyle/>
          <a:p>
            <a:pPr algn="ctr">
              <a:defRPr sz="1100">
                <a:solidFill>
                  <a:srgbClr val="D4D4D4"/>
                </a:solidFill>
                <a:latin typeface="Consolas"/>
              </a:defRPr>
            </a:pPr>
            <a:r>
              <a:t># Acquisition Function: Expected Improvement</a:t>
            </a:r>
            <a:br/>
            <a:r>
              <a:t># Balances Exploitation (Best Mean) &amp; Exploration (High Var)</a:t>
            </a:r>
            <a:br/>
            <a:br/>
            <a:r>
              <a:t>acq = qExpectedImprovement(</a:t>
            </a:r>
            <a:br/>
            <a:r>
              <a:t>    model=gp_model,</a:t>
            </a:r>
            <a:br/>
            <a:r>
              <a:t>    best_f=best_observed_y</a:t>
            </a:r>
            <a:br/>
            <a:r>
              <a:t>)</a:t>
            </a:r>
            <a:br/>
            <a:br/>
            <a:r>
              <a:t>candidates, _ = optimize_acqf(acq, q=5)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Verification: We Don't Trust Black Boxes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How do we know the optimizer works?</a:t>
            </a:r>
          </a:p>
          <a:p>
            <a:pPr>
              <a:spcBef>
                <a:spcPts val="1200"/>
              </a:spcBef>
              <a:defRPr sz="1600"/>
            </a:pPr>
            <a:r>
              <a:t>We wrote specific tests to prove it verifies constraints:</a:t>
            </a:r>
          </a:p>
          <a:p>
            <a:pPr>
              <a:spcBef>
                <a:spcPts val="600"/>
              </a:spcBef>
              <a:defRPr sz="1600"/>
            </a:pPr>
            <a:r>
              <a:t>• test_suggest_valid_candidates</a:t>
            </a:r>
          </a:p>
          <a:p>
            <a:pPr>
              <a:spcBef>
                <a:spcPts val="600"/>
              </a:spcBef>
              <a:defRPr sz="1600"/>
            </a:pPr>
            <a:r>
              <a:t>  → Proves BO output is within bounds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• test_constraints_are_respected</a:t>
            </a:r>
          </a:p>
          <a:p>
            <a:pPr>
              <a:spcBef>
                <a:spcPts val="600"/>
              </a:spcBef>
              <a:defRPr sz="1600"/>
            </a:pPr>
            <a:r>
              <a:t>  → Proves impossible designs are rejected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594360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</a:defRPr>
            </a:pPr>
            <a:r>
              <a:t>  src/optimization/tests/test_optimizer.py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920240"/>
            <a:ext cx="5943600" cy="3840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tIns="127000"/>
          <a:lstStyle/>
          <a:p>
            <a:pPr algn="ctr">
              <a:defRPr sz="1100">
                <a:solidFill>
                  <a:srgbClr val="D4D4D4"/>
                </a:solidFill>
                <a:latin typeface="Consolas"/>
              </a:defRPr>
            </a:pPr>
            <a:r>
              <a:t>def test_suggest_valid_candidates(self):</a:t>
            </a:r>
            <a:br/>
            <a:r>
              <a:t>    candidates = opt.suggest(n=5)</a:t>
            </a:r>
            <a:br/>
            <a:r>
              <a:t>    </a:t>
            </a:r>
            <a:br/>
            <a:r>
              <a:t>    # Assert all suggested designs are valid</a:t>
            </a:r>
            <a:br/>
            <a:r>
              <a:t>    for col in candidates.columns:</a:t>
            </a:r>
            <a:br/>
            <a:r>
              <a:t>        assert candidates[col].min() &gt;= bounds[0]</a:t>
            </a:r>
            <a:br/>
            <a:r>
              <a:t>        assert candidates[col].max() &lt;= bounds[1]</a:t>
            </a:r>
            <a:br/>
            <a:r>
              <a:t>        </a:t>
            </a:r>
            <a:br/>
            <a:r>
              <a:t>    # Assert geometry is physically possible</a:t>
            </a:r>
            <a:br/>
            <a:r>
              <a:t>    assert check_feasibility(candidates).all()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Full Campaign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14400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</a:defRPr>
            </a:pPr>
            <a:r>
              <a:t>  scripts/run_optimization_campaign.py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9144000" cy="3840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tIns="127000"/>
          <a:lstStyle/>
          <a:p>
            <a:pPr algn="ctr">
              <a:defRPr sz="1100">
                <a:solidFill>
                  <a:srgbClr val="D4D4D4"/>
                </a:solidFill>
                <a:latin typeface="Consolas"/>
              </a:defRPr>
            </a:pPr>
            <a:r>
              <a:t># run_campaign.py</a:t>
            </a:r>
            <a:br/>
            <a:r>
              <a:t>def main():</a:t>
            </a:r>
            <a:br/>
            <a:r>
              <a:t>    while not converged:</a:t>
            </a:r>
            <a:br/>
            <a:r>
              <a:t>        1. Load Results (CSV)</a:t>
            </a:r>
            <a:br/>
            <a:r>
              <a:t>        2. Train GP Surrogate (X, y)</a:t>
            </a:r>
            <a:br/>
            <a:r>
              <a:t>        3. Optimize Acquisition -&gt; New Candidates</a:t>
            </a:r>
            <a:br/>
            <a:r>
              <a:t>        4. Generate CAD</a:t>
            </a:r>
            <a:br/>
            <a:r>
              <a:t>        5. Run COMSOL Batch</a:t>
            </a:r>
            <a:br/>
            <a:r>
              <a:t>        </a:t>
            </a:r>
            <a:br/>
            <a:r>
              <a:t># Automation allows running overnight.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  <a:latin typeface="Arial"/>
              </a:defRPr>
            </a:pPr>
            <a:r>
              <a:t>1. Validated by Taira (2020): Gaussian assumption holds for fluids.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  <a:latin typeface="Arial"/>
              </a:defRPr>
            </a:pPr>
            <a:r>
              <a:t>2. Data-Efficient: GP surrogate replaces 1000s of simulations.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  <a:latin typeface="Arial"/>
              </a:defRPr>
            </a:pPr>
            <a:r>
              <a:t>3. Automated: End-to-end Python pipeline (CAD → CFD → AI).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  <a:latin typeface="Arial"/>
              </a:defRPr>
            </a:pPr>
            <a:r>
              <a:t>4. Optimized: Finds the best stent geometry without human guessing.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