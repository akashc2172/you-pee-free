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Stent Optimization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834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D2FF"/>
                </a:solidFill>
                <a:latin typeface="Calibri"/>
              </a:defRPr>
            </a:pPr>
            <a:r>
              <a:t>A Walkthrough of the End-to-End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Calibri"/>
              </a:defRPr>
            </a:pPr>
            <a:r>
              <a:t>From parametric CAD → CFD simulation → GP surrogate → Bayesian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Akash  |  Masters Thesis  |  February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CC"/>
                </a:solidFill>
                <a:latin typeface="Calibri"/>
              </a:defRPr>
            </a:pPr>
            <a:r>
              <a:t>1/18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Calibri"/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① The Problem — why stent design needs a smarter approach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② Pipeline Architecture — the 30,000-foot view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③ Parametric CAD — scripted stent geometry (build123d)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④ Design Space &amp; Sampling — Latin Hypercube in 16 dimensions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⑤ Feasibility Filtering — throwing out impossible designs early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⑥ COMSOL CFD — the expensive simulations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⑦ COMSOL Results Parsing — extracting the data we care about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⑧ GP Surrogate Model — learning to predict without simulating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⑨ Literature Backing — Maulik &amp; Taira (2020)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⑩ Bayesian Optimization — closing the loop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⑪ Orchestration — the full campaign script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⑫ What's Next &amp; Q+A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CC"/>
                </a:solidFill>
                <a:latin typeface="Calibri"/>
              </a:defRPr>
            </a:pPr>
            <a:r>
              <a:t>2/18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Calibri"/>
              </a:defRPr>
            </a:pPr>
            <a:r>
              <a:t>Why We Can't Just Guess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• Pediatric ureteral stents drain fluid from the kidney to the bladder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• Current designs are scaled-down adult stents — not optimized for children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• Each stent has ~16 design knobs: diameter, length, hole sizes, hole counts, coil geometry…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• Changing one parameter affects flow, pressure, and structural integrity simultaneously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• Testing every combo physically? Impossible — the design space is enormous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💡 We need a system that explores this space intelligently,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    runs simulations only where it matters, and finds the best designs.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CC"/>
                </a:solidFill>
                <a:latin typeface="Calibri"/>
              </a:defRPr>
            </a:pPr>
            <a:r>
              <a:t>3/18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Calibri"/>
              </a:defRPr>
            </a:pPr>
            <a:r>
              <a:t>Pipeline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Calibri"/>
              </a:defRPr>
            </a:pPr>
            <a:r>
              <a:t>The 30,000-Foot 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2011680"/>
            <a:ext cx="1463040" cy="1280160"/>
          </a:xfrm>
          <a:prstGeom prst="round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27000"/>
          <a:lstStyle/>
          <a:p>
            <a:pPr algn="ctr">
              <a:defRPr sz="1400">
                <a:solidFill>
                  <a:srgbClr val="FFFFFF"/>
                </a:solidFill>
                <a:latin typeface="Calibri"/>
              </a:defRPr>
            </a:pPr>
            <a:r>
              <a:t>Design</a:t>
            </a:r>
            <a:br/>
            <a:r>
              <a:t>Space</a:t>
            </a:r>
            <a:br/>
            <a:r>
              <a:t>(16 dims)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74520" y="2011680"/>
            <a:ext cx="1463040" cy="1280160"/>
          </a:xfrm>
          <a:prstGeom prst="round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27000"/>
          <a:lstStyle/>
          <a:p>
            <a:pPr algn="ctr">
              <a:defRPr sz="1400">
                <a:solidFill>
                  <a:srgbClr val="FFFFFF"/>
                </a:solidFill>
                <a:latin typeface="Calibri"/>
              </a:defRPr>
            </a:pPr>
            <a:r>
              <a:t>LHS</a:t>
            </a:r>
            <a:br/>
            <a:r>
              <a:t>Sampling</a:t>
            </a:r>
            <a:br/>
            <a:r>
              <a:t>(space-fill)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2011680"/>
            <a:ext cx="1463040" cy="1280160"/>
          </a:xfrm>
          <a:prstGeom prst="round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27000"/>
          <a:lstStyle/>
          <a:p>
            <a:pPr algn="ctr">
              <a:defRPr sz="1400">
                <a:solidFill>
                  <a:srgbClr val="FFFFFF"/>
                </a:solidFill>
                <a:latin typeface="Calibri"/>
              </a:defRPr>
            </a:pPr>
            <a:r>
              <a:t>Feasibility</a:t>
            </a:r>
            <a:br/>
            <a:r>
              <a:t>Filter</a:t>
            </a:r>
            <a:br/>
            <a:r>
              <a:t>(constraints)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74920" y="2011680"/>
            <a:ext cx="1463040" cy="128016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27000"/>
          <a:lstStyle/>
          <a:p>
            <a:pPr algn="ctr">
              <a:defRPr sz="1400">
                <a:solidFill>
                  <a:srgbClr val="FFFFFF"/>
                </a:solidFill>
                <a:latin typeface="Calibri"/>
              </a:defRPr>
            </a:pPr>
            <a:r>
              <a:t>CAD</a:t>
            </a:r>
            <a:br/>
            <a:r>
              <a:t>Generation</a:t>
            </a:r>
            <a:br/>
            <a:r>
              <a:t>(build123d)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2011680"/>
            <a:ext cx="1463040" cy="128016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27000"/>
          <a:lstStyle/>
          <a:p>
            <a:pPr algn="ctr">
              <a:defRPr sz="1400">
                <a:solidFill>
                  <a:srgbClr val="FFFFFF"/>
                </a:solidFill>
                <a:latin typeface="Calibri"/>
              </a:defRPr>
            </a:pPr>
            <a:r>
              <a:t>COMSOL</a:t>
            </a:r>
            <a:br/>
            <a:r>
              <a:t>CFD</a:t>
            </a:r>
            <a:br/>
            <a:r>
              <a:t>(simulate)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2011680"/>
            <a:ext cx="1463040" cy="128016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27000"/>
          <a:lstStyle/>
          <a:p>
            <a:pPr algn="ctr">
              <a:defRPr sz="1400">
                <a:solidFill>
                  <a:srgbClr val="FFFFFF"/>
                </a:solidFill>
                <a:latin typeface="Calibri"/>
              </a:defRPr>
            </a:pPr>
            <a:r>
              <a:t>GP</a:t>
            </a:r>
            <a:br/>
            <a:r>
              <a:t>Surrogate</a:t>
            </a:r>
            <a:br/>
            <a:r>
              <a:t>(learn)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75520" y="2011680"/>
            <a:ext cx="1463040" cy="128016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27000"/>
          <a:lstStyle/>
          <a:p>
            <a:pPr algn="ctr">
              <a:defRPr sz="1400">
                <a:solidFill>
                  <a:srgbClr val="FFFFFF"/>
                </a:solidFill>
                <a:latin typeface="Calibri"/>
              </a:defRPr>
            </a:pPr>
            <a:r>
              <a:t>Bayesian</a:t>
            </a:r>
            <a:br/>
            <a:r>
              <a:t>Optimization</a:t>
            </a:r>
            <a:br/>
            <a:r>
              <a:t>(suggest)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66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→  →  →  →  →  →  →  →  →  →  →  →  →  →  →  →  →  →  →  → (iterative loop back from BO to COMSOL)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38912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Key idea: We start with a big batch of random designs (LHS), filter the ones that are physically impossible, simulate the rest in COMSOL, then train a cheap statistical model (GP) that learns the patterns. Once the GP is decent, we use Bayesian Optimization to suggest the NEXT best designs to simulate — instead of guessing randomly. This loop repeats until we converge on optimal stent geometries.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CC"/>
                </a:solidFill>
                <a:latin typeface="Calibri"/>
              </a:defRPr>
            </a:pPr>
            <a:r>
              <a:t>4/18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Calibri"/>
              </a:defRPr>
            </a:pPr>
            <a:r>
              <a:t>Project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Calibri"/>
              </a:defRPr>
            </a:pPr>
            <a:r>
              <a:t>How the code is organized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515600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/>
          <a:lstStyle/>
          <a:p>
            <a:pPr algn="ctr">
              <a:defRPr sz="1100">
                <a:solidFill>
                  <a:srgbClr val="2ECC71"/>
                </a:solidFill>
                <a:latin typeface="Courier New"/>
              </a:defRPr>
            </a:pPr>
            <a:r>
              <a:t>masters/</a:t>
            </a:r>
            <a:br/>
            <a:r>
              <a:t>├── config/parameters.yaml    ← all 16 design knobs defined here</a:t>
            </a:r>
            <a:br/>
            <a:r>
              <a:t>├── src/</a:t>
            </a:r>
            <a:br/>
            <a:r>
              <a:t>│   ├── cad/stent_generator.py    ← builds 3D stent geometry</a:t>
            </a:r>
            <a:br/>
            <a:r>
              <a:t>│   ├── sampling/</a:t>
            </a:r>
            <a:br/>
            <a:r>
              <a:t>│   │   ├── lhs_generator.py      ← Latin Hypercube sampling</a:t>
            </a:r>
            <a:br/>
            <a:r>
              <a:t>│   │   └── feasibility.py        ← rejects bad designs</a:t>
            </a:r>
            <a:br/>
            <a:r>
              <a:t>│   ├── comsol/</a:t>
            </a:r>
            <a:br/>
            <a:r>
              <a:t>│   │   ├── runner.py             ← fires off COMSOL sims</a:t>
            </a:r>
            <a:br/>
            <a:r>
              <a:t>│   │   └── result_parser.py      ← reads simulation outputs</a:t>
            </a:r>
            <a:br/>
            <a:r>
              <a:t>│   ├── surrogate/</a:t>
            </a:r>
            <a:br/>
            <a:r>
              <a:t>│   │   ├── gp_model.py           ← Gaussian Process wrapper</a:t>
            </a:r>
            <a:br/>
            <a:r>
              <a:t>│   │   └── training.py           ← train + cross-validate</a:t>
            </a:r>
            <a:br/>
            <a:r>
              <a:t>│   └── optimization/</a:t>
            </a:r>
            <a:br/>
            <a:r>
              <a:t>│       └── optimizer.py          ← Bayesian Optimization loop</a:t>
            </a:r>
            <a:br/>
            <a:r>
              <a:t>├── scripts/</a:t>
            </a:r>
            <a:br/>
            <a:r>
              <a:t>│   ├── run_lhs_batch.py          ← CLI: generate a sampling batch</a:t>
            </a:r>
            <a:br/>
            <a:r>
              <a:t>│   └── run_optimization_campaign.py  ← CLI: full campaign</a:t>
            </a:r>
            <a:br/>
            <a:r>
              <a:t>└── docs/                         ← decision logs, schemas,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CC"/>
                </a:solidFill>
                <a:latin typeface="Calibri"/>
              </a:defRPr>
            </a:pPr>
            <a:r>
              <a:t>5/18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Calibri"/>
              </a:defRPr>
            </a:pPr>
            <a:r>
              <a:t>The Design 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Calibri"/>
              </a:defRPr>
            </a:pPr>
            <a:r>
              <a:t>16 parameters defined in parameters.yaml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Calibri"/>
              </a:defRPr>
            </a:pPr>
            <a:r>
              <a:t>What we sample (the "knobs" we turn):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stent_french (4–8 Fr) — diameter in French units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stent_length (100–300 mm) — total body length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coil_R_prox / coil_R_dist (4–12 mm) — coil radii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pitch_prox / pitch_dist (4–10 mm) — helix pitch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turns_prox / turns_dist (0.5–2.5) — number of coil turns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r_t (0.10–0.22) — wall thickness as fraction of OD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r_sh (0.20–0.70) — side hole size as fraction of ID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r_end (0.30–0.95) — end hole size fraction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n_prox, n_mid, n_dist — number of holes per section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section_length_prox / dist (20–60 mm)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unroofed_length (0–30 mm) — half-pipe cut at distal 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463040"/>
            <a:ext cx="5029200" cy="201168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27000"/>
          <a:lstStyle/>
          <a:p>
            <a:pPr algn="ctr">
              <a:defRPr sz="1400">
                <a:solidFill>
                  <a:srgbClr val="FFFFFF"/>
                </a:solidFill>
                <a:latin typeface="Calibri"/>
              </a:defRPr>
            </a:pPr>
            <a:r>
              <a:t>Why fractions instead of absolute values?</a:t>
            </a:r>
            <a:br/>
            <a:br/>
            <a:r>
              <a:t>By sampling r_t, r_sh, r_end as ratios (0–1),</a:t>
            </a:r>
            <a:br/>
            <a:r>
              <a:t>we guarantee the geometry makes sense by construction.</a:t>
            </a:r>
            <a:br/>
            <a:r>
              <a:t>Wall thickness can't exceed the tube radius.</a:t>
            </a:r>
            <a:br/>
            <a:r>
              <a:t>Holes can't be bigger than the inner diameter.</a:t>
            </a:r>
            <a:br/>
            <a:r>
              <a:t>→ Fewer invalid designs = less wasted compute.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840480"/>
            <a:ext cx="5029200" cy="22860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27000"/>
          <a:lstStyle/>
          <a:p>
            <a:pPr algn="ctr">
              <a:defRPr sz="1400">
                <a:solidFill>
                  <a:srgbClr val="FFFFFF"/>
                </a:solidFill>
                <a:latin typeface="Calibri"/>
              </a:defRPr>
            </a:pPr>
            <a:r>
              <a:t>Derived (computed automatically):</a:t>
            </a:r>
            <a:br/>
            <a:br/>
            <a:r>
              <a:t>OD = 0.333 × stent_french</a:t>
            </a:r>
            <a:br/>
            <a:r>
              <a:t>wall_thickness = r_t × OD</a:t>
            </a:r>
            <a:br/>
            <a:r>
              <a:t>ID = OD − 2 × wall_thickness</a:t>
            </a:r>
            <a:br/>
            <a:r>
              <a:t>d_sh = min(r_sh × ID, ID − 0.15)</a:t>
            </a:r>
            <a:br/>
            <a:r>
              <a:t>section_length_mid = total − prox − dist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CC"/>
                </a:solidFill>
                <a:latin typeface="Calibri"/>
              </a:defRPr>
            </a:pPr>
            <a:r>
              <a:t>6/18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Calibri"/>
              </a:defRPr>
            </a:pPr>
            <a:r>
              <a:t>Parametric CAD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Calibri"/>
              </a:defRPr>
            </a:pPr>
            <a:r>
              <a:t>src/cad/stent_generator.py — scripted 3D geometry with build123d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Calibri"/>
              </a:defRPr>
            </a:pPr>
            <a:r>
              <a:t>What it does: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• Takes the 16 parameters as input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• Validates geometry constraints automatically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• Creates a proximal helix (pigtail coil)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• Creates a straight hollow tube body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• Creates a distal helix (second pigtail)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• Cuts side holes at computed positions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• Optionally cuts a half-pipe ("unroofed") section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• Exports to .STEP format → ready for COMSOL import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303520" cy="411480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/>
          <a:lstStyle/>
          <a:p>
            <a:pPr algn="ctr">
              <a:defRPr sz="1100">
                <a:solidFill>
                  <a:srgbClr val="2ECC71"/>
                </a:solidFill>
                <a:latin typeface="Courier New"/>
              </a:defRPr>
            </a:pPr>
            <a:r>
              <a:t># Usage — it's this simple:</a:t>
            </a:r>
            <a:br/>
            <a:r>
              <a:t>from src.cad import StentGenerator, StentParameters</a:t>
            </a:r>
            <a:br/>
            <a:br/>
            <a:r>
              <a:t>params = StentParameters(</a:t>
            </a:r>
            <a:br/>
            <a:r>
              <a:t>    stent_french=6.0,</a:t>
            </a:r>
            <a:br/>
            <a:r>
              <a:t>    stent_length=150,</a:t>
            </a:r>
            <a:br/>
            <a:r>
              <a:t>    n_prox=2, n_mid=5, n_dist=2,</a:t>
            </a:r>
            <a:br/>
            <a:r>
              <a:t>    r_t=0.15, r_sh=0.5,</a:t>
            </a:r>
            <a:br/>
            <a:r>
              <a:t>    unroofed_length=10.0</a:t>
            </a:r>
            <a:br/>
            <a:r>
              <a:t>)</a:t>
            </a:r>
            <a:br/>
            <a:br/>
            <a:r>
              <a:t>gen = StentGenerator(params)</a:t>
            </a:r>
            <a:br/>
            <a:r>
              <a:t>gen.export_step("my_stent.step")</a:t>
            </a:r>
            <a:br/>
            <a:r>
              <a:t>print(gen.get_info())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The generator handles all the math internally — helix sweeps, boolean cuts, hole positioning. You just give it the design and it spits out a 3D model.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CC"/>
                </a:solidFill>
                <a:latin typeface="Calibri"/>
              </a:defRPr>
            </a:pPr>
            <a:r>
              <a:t>7/18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Calibri"/>
              </a:defRPr>
            </a:pPr>
            <a:r>
              <a:t>Latin Hypercube Sampling (LHS)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Calibri"/>
              </a:defRPr>
            </a:pPr>
            <a:r>
              <a:t>src/sampling/lhs_generator.py — covering the design space efficiently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Why LHS instead of random sampling?</a:t>
            </a:r>
            <a:br/>
            <a:br/>
            <a:r>
              <a:t>• Random sampling leaves gaps — you might cluster in one corner</a:t>
            </a:r>
            <a:br/>
            <a:r>
              <a:t>  and miss another entirely</a:t>
            </a:r>
            <a:br/>
            <a:br/>
            <a:r>
              <a:t>• LHS divides each dimension into equal-probability bins and</a:t>
            </a:r>
            <a:br/>
            <a:r>
              <a:t>  ensures exactly one sample per bin → guaranteed coverage</a:t>
            </a:r>
            <a:br/>
            <a:br/>
            <a:r>
              <a:t>• Think of it like a sudoku constraint applied to sampling:</a:t>
            </a:r>
            <a:br/>
            <a:r>
              <a:t>  no two points share the same row or column in any dimension</a:t>
            </a:r>
            <a:br/>
            <a:br/>
            <a:r>
              <a:t>• We use scipy.stats.qmc.LatinHypercube under the hood</a:t>
            </a:r>
            <a:br/>
            <a:br/>
            <a:r>
              <a:t>• Default: 60 target samples × 3x oversample = 180 raw → filter</a:t>
            </a:r>
            <a:br/>
            <a:r>
              <a:t>  down to ~60 valid designs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303520" cy="384048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/>
          <a:lstStyle/>
          <a:p>
            <a:pPr algn="ctr">
              <a:defRPr sz="1100">
                <a:solidFill>
                  <a:srgbClr val="2ECC71"/>
                </a:solidFill>
                <a:latin typeface="Courier New"/>
              </a:defRPr>
            </a:pPr>
            <a:r>
              <a:t># The core of lhs_generator.py:</a:t>
            </a:r>
            <a:br/>
            <a:r>
              <a:t>from scipy.stats import qmc</a:t>
            </a:r>
            <a:br/>
            <a:br/>
            <a:r>
              <a:t>sampler = qmc.LatinHypercube(d=16, seed=42)</a:t>
            </a:r>
            <a:br/>
            <a:r>
              <a:t>samples_01 = sampler.random(n=180)  # [0,1]</a:t>
            </a:r>
            <a:br/>
            <a:br/>
            <a:r>
              <a:t># Scale to physical ranges</a:t>
            </a:r>
            <a:br/>
            <a:r>
              <a:t>scaled = qmc.scale(samples_01,</a:t>
            </a:r>
            <a:br/>
            <a:r>
              <a:t>    lower_bounds, upper_bounds)</a:t>
            </a:r>
            <a:br/>
            <a:br/>
            <a:r>
              <a:t># Round discrete vars (hole counts)</a:t>
            </a:r>
            <a:br/>
            <a:r>
              <a:t>for var in ['n_prox','n_mid','n_dist']:</a:t>
            </a:r>
            <a:br/>
            <a:r>
              <a:t>    df[var] = df[var].round().astype(int)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The CLI script (run_lhs_batch.py) wraps this:</a:t>
            </a:r>
            <a:br/>
            <a:r>
              <a:t>python scripts/run_lhs_batch.py --n_samples 60 --seed 42 --output data/lhs_batches/batch_001.csv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CC"/>
                </a:solidFill>
                <a:latin typeface="Calibri"/>
              </a:defRPr>
            </a:pPr>
            <a:r>
              <a:t>8/18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Calibri"/>
              </a:defRPr>
            </a:pPr>
            <a:r>
              <a:t>Feasibility Filtering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Calibri"/>
              </a:defRPr>
            </a:pPr>
            <a:r>
              <a:t>src/sampling/feasibility.py — rejecting impossible designs before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F43"/>
                </a:solidFill>
                <a:latin typeface="Calibri"/>
              </a:defRPr>
            </a:pPr>
            <a:r>
              <a:t>Hard constraints (if violated → design is thrown out):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• Inner diameter ≥ 0.6 mm (too narrow = no flow)</a:t>
            </a:r>
          </a:p>
          <a:p>
            <a:pPr>
              <a:spcBef>
                <a:spcPts val="5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• Middle section ≥ 10 mm (too short = pointless)</a:t>
            </a:r>
          </a:p>
          <a:p>
            <a:pPr>
              <a:spcBef>
                <a:spcPts val="5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• Side holes must physically fit: n_holes × pitch ≤ usable length</a:t>
            </a:r>
          </a:p>
          <a:p>
            <a:pPr>
              <a:spcBef>
                <a:spcPts val="5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  (checked per section: proximal, middle, distal)</a:t>
            </a:r>
          </a:p>
          <a:p>
            <a:pPr>
              <a:spcBef>
                <a:spcPts val="5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• Wall thickness minimum (structural integrity)</a:t>
            </a:r>
          </a:p>
          <a:p>
            <a:pPr>
              <a:spcBef>
                <a:spcPts val="5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• Hole diameter can't exceed inner diameter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303520" cy="457200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/>
          <a:lstStyle/>
          <a:p>
            <a:pPr algn="ctr">
              <a:defRPr sz="1100">
                <a:solidFill>
                  <a:srgbClr val="2ECC71"/>
                </a:solidFill>
                <a:latin typeface="Courier New"/>
              </a:defRPr>
            </a:pPr>
            <a:r>
              <a:t># How it works internally:</a:t>
            </a:r>
            <a:br/>
            <a:r>
              <a:t>class FeasibilityFilter:</a:t>
            </a:r>
            <a:br/>
            <a:r>
              <a:t>  def _check_row(self, row):</a:t>
            </a:r>
            <a:br/>
            <a:r>
              <a:t>    try:</a:t>
            </a:r>
            <a:br/>
            <a:r>
              <a:t>      # Reuse StentParameters validation</a:t>
            </a:r>
            <a:br/>
            <a:r>
              <a:t>      StentParameters(**filtered_args)</a:t>
            </a:r>
            <a:br/>
            <a:r>
              <a:t>      return None  # Valid!</a:t>
            </a:r>
            <a:br/>
            <a:r>
              <a:t>    except ValueError as e:</a:t>
            </a:r>
            <a:br/>
            <a:r>
              <a:t>      if "ID" in msg:</a:t>
            </a:r>
            <a:br/>
            <a:r>
              <a:t>        return "ID &lt; ID_MIN"</a:t>
            </a:r>
            <a:br/>
            <a:r>
              <a:t>      elif "Cannot fit" in msg:</a:t>
            </a:r>
            <a:br/>
            <a:r>
              <a:t>        return "Hole packing (mid)"</a:t>
            </a:r>
            <a:br/>
            <a:r>
              <a:t>      ...</a:t>
            </a:r>
            <a:br/>
            <a:br/>
            <a:r>
              <a:t># Returns a report:</a:t>
            </a:r>
            <a:br/>
            <a:r>
              <a:t># FeasibilityReport(</a:t>
            </a:r>
            <a:br/>
            <a:r>
              <a:t>#   n_input=180, n_valid=67,</a:t>
            </a:r>
            <a:br/>
            <a:r>
              <a:t>#   rejection_reasons={</a:t>
            </a:r>
            <a:br/>
            <a:r>
              <a:t>#     'Hole packing (mid)': 58,</a:t>
            </a:r>
            <a:br/>
            <a:r>
              <a:t>#     'ID &lt; ID_MIN': 33, ...})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120640"/>
            <a:ext cx="5029200" cy="1097280"/>
          </a:xfrm>
          <a:prstGeom prst="round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27000"/>
          <a:lstStyle/>
          <a:p>
            <a:pPr algn="ctr">
              <a:defRPr sz="1400">
                <a:solidFill>
                  <a:srgbClr val="FFFFFF"/>
                </a:solidFill>
                <a:latin typeface="Calibri"/>
              </a:defRPr>
            </a:pPr>
            <a:r>
              <a:t>Why this matters: Each COMSOL sim takes 10–60 min.</a:t>
            </a:r>
            <a:br/>
            <a:r>
              <a:t>Filtering 180 → 60 saves potentially 100+ hours of wasted compute.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CC"/>
                </a:solidFill>
                <a:latin typeface="Calibri"/>
              </a:defRPr>
            </a:pPr>
            <a:r>
              <a:t>9/18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Calibri"/>
              </a:defRPr>
            </a:pPr>
            <a:r>
              <a:t>COMSOL CFD Simulation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Calibri"/>
              </a:defRPr>
            </a:pPr>
            <a:r>
              <a:t>src/comsol/runner.py — automating the expensive 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What happens in this stage:</a:t>
            </a:r>
            <a:br/>
            <a:br/>
            <a:r>
              <a:t>1. Take a .STEP file (from CAD generator) + design parameters</a:t>
            </a:r>
            <a:br/>
            <a:r>
              <a:t>2. Import into COMSOL Multiphysics (industry-standard CFD solver)</a:t>
            </a:r>
            <a:br/>
            <a:r>
              <a:t>3. Set up laminar flow physics — CSF (cerebrospinal fluid) flowing through the stent</a:t>
            </a:r>
            <a:br/>
            <a:r>
              <a:t>4. Mesh the geometry, solve the Navier-Stokes equations</a:t>
            </a:r>
            <a:br/>
            <a:r>
              <a:t>5. Export results: pressure drop (ΔP), total flow (Q_total),</a:t>
            </a:r>
            <a:br/>
            <a:r>
              <a:t>   side-hole flows per section (Q_prox, Q_mid, Q_dist)</a:t>
            </a:r>
            <a:br/>
            <a:br/>
            <a:r>
              <a:t>The COMSOLRunner class automates this:</a:t>
            </a:r>
            <a:br/>
            <a:r>
              <a:t>• Constructs the batch command with parameter injection</a:t>
            </a:r>
            <a:br/>
            <a:r>
              <a:t>• Runs: comsol batch -input base.mph -output out.mph -pname "p1,p2" -pval "v1,v2"</a:t>
            </a:r>
            <a:br/>
            <a:r>
              <a:t>• Logs everything (convergence, CPU time, errors)</a:t>
            </a:r>
            <a:br/>
            <a:r>
              <a:t>• Can generate shell scripts for cluster deployment</a:t>
            </a:r>
            <a:br/>
            <a:br/>
            <a:r>
              <a:t>This is the bottleneck of the whole pipeline — each simulation takes real time.</a:t>
            </a:r>
            <a:br/>
            <a:r>
              <a:t>That's exactly why we need the GP surrogate: to AVOID running COMSOL for every design.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669280"/>
            <a:ext cx="10058400" cy="731520"/>
          </a:xfrm>
          <a:prstGeom prst="round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27000"/>
          <a:lstStyle/>
          <a:p>
            <a:pPr algn="ctr">
              <a:defRPr sz="1400">
                <a:solidFill>
                  <a:srgbClr val="FFFFFF"/>
                </a:solidFill>
                <a:latin typeface="Calibri"/>
              </a:defRPr>
            </a:pPr>
            <a:r>
              <a:t>Think of COMSOL as the "ground truth oracle" — accurate but slow. The GP learns to approximate it cheaply.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CC"/>
                </a:solidFill>
                <a:latin typeface="Calibri"/>
              </a:defRPr>
            </a:pPr>
            <a:r>
              <a:t>10/18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Calibri"/>
              </a:defRPr>
            </a:pPr>
            <a:r>
              <a:t>Parsing COMSOL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Calibri"/>
              </a:defRPr>
            </a:pPr>
            <a:r>
              <a:t>src/comsol/result_parser.py — extracting what we care about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029200" cy="320040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/>
          <a:lstStyle/>
          <a:p>
            <a:pPr algn="ctr">
              <a:defRPr sz="1100">
                <a:solidFill>
                  <a:srgbClr val="2ECC71"/>
                </a:solidFill>
                <a:latin typeface="Courier New"/>
              </a:defRPr>
            </a:pPr>
            <a:r>
              <a:t>@dataclass</a:t>
            </a:r>
            <a:br/>
            <a:r>
              <a:t>class COMSOLResult:</a:t>
            </a:r>
            <a:br/>
            <a:r>
              <a:t>    run_id: str</a:t>
            </a:r>
            <a:br/>
            <a:r>
              <a:t>    q_out: Optional[float] = None     # Total outlet flow</a:t>
            </a:r>
            <a:br/>
            <a:r>
              <a:t>    delta_p: Optional[float] = None   # Pressure drop</a:t>
            </a:r>
            <a:br/>
            <a:r>
              <a:t>    q_sh: Dict[str, float] = None     # Side-hole flows</a:t>
            </a:r>
            <a:br/>
            <a:r>
              <a:t>    converged: bool = False            # Did it finish?</a:t>
            </a:r>
            <a:br/>
            <a:r>
              <a:t>    iterations: int = 0</a:t>
            </a:r>
            <a:br/>
            <a:r>
              <a:t>    cpu_time_s: float = 0.0</a:t>
            </a:r>
            <a:br/>
            <a:r>
              <a:t>    mass_imbalance: Optional[float]    # Sanity check</a:t>
            </a:r>
            <a:br/>
            <a:r>
              <a:t>    errors: List[str] = None           # What went wrong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What the parser does:</a:t>
            </a:r>
            <a:br/>
            <a:br/>
            <a:r>
              <a:t>1. Reads the exported CSV from COMSOL</a:t>
            </a:r>
            <a:br/>
            <a:r>
              <a:t>   (columns like Q_total, delta_P, Q_sh_prox…)</a:t>
            </a:r>
            <a:br/>
            <a:br/>
            <a:r>
              <a:t>2. Scans the solver log for:</a:t>
            </a:r>
            <a:br/>
            <a:r>
              <a:t>   • Convergence status ("Solver finished.")</a:t>
            </a:r>
            <a:br/>
            <a:r>
              <a:t>   • CPU time ("Solution time: 123 s")</a:t>
            </a:r>
            <a:br/>
            <a:r>
              <a:t>   • Iteration count</a:t>
            </a:r>
            <a:br/>
            <a:r>
              <a:t>   • Error messages</a:t>
            </a:r>
            <a:br/>
            <a:br/>
            <a:r>
              <a:t>3. Packages everything into a clean COMSOLResult object</a:t>
            </a:r>
            <a:br/>
            <a:br/>
            <a:r>
              <a:t>4. Mass imbalance check: flow in ≈ flow out?</a:t>
            </a:r>
            <a:br/>
            <a:r>
              <a:t>   (If not, something went wrong with the sim)</a:t>
            </a:r>
            <a:br/>
            <a:br/>
            <a:r>
              <a:t>This structured output feeds directly into the GP training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CC"/>
                </a:solidFill>
                <a:latin typeface="Calibri"/>
              </a:defRPr>
            </a:pPr>
            <a:r>
              <a:t>11/18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Calibri"/>
              </a:defRPr>
            </a:pPr>
            <a:r>
              <a:t>What We're Measuring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Calibri"/>
              </a:defRPr>
            </a:pPr>
            <a:r>
              <a:t>The metrics from each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Calibri"/>
              </a:defRPr>
            </a:pPr>
            <a:r>
              <a:t>Primary Metrics (optimization targets):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• ΔP  — Pressure drop across the stent (minimize)</a:t>
            </a:r>
          </a:p>
          <a:p>
            <a:pPr>
              <a:spcBef>
                <a:spcPts val="5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• Q_total  — Total outlet drainage flow (maximize)</a:t>
            </a:r>
          </a:p>
          <a:p>
            <a:pPr>
              <a:spcBef>
                <a:spcPts val="5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• Q_sh_prox/mid/dist  — Flow through each section's holes</a:t>
            </a:r>
          </a:p>
          <a:p>
            <a:pPr>
              <a:spcBef>
                <a:spcPts val="5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• CV_Qsh  — How evenly flow is distributed (minimize)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F43"/>
                </a:solidFill>
                <a:latin typeface="Calibri"/>
              </a:defRPr>
            </a:pPr>
            <a:r>
              <a:t>Secondary / Diagnostic: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891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• WSS (Wall Shear Stress) — thrombosis risk</a:t>
            </a:r>
          </a:p>
          <a:p>
            <a:pPr>
              <a:spcBef>
                <a:spcPts val="5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• Mass imbalance — conservation sanity check</a:t>
            </a:r>
          </a:p>
          <a:p>
            <a:pPr>
              <a:spcBef>
                <a:spcPts val="5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• Solver iterations &amp; CPU time — resource tracking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371600"/>
            <a:ext cx="5029200" cy="45720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27000"/>
          <a:lstStyle/>
          <a:p>
            <a:pPr algn="ctr">
              <a:defRPr sz="1400">
                <a:solidFill>
                  <a:srgbClr val="FFFFFF"/>
                </a:solidFill>
                <a:latin typeface="Calibri"/>
              </a:defRPr>
            </a:pPr>
            <a:r>
              <a:t>The Core Tradeoff (Pareto Front):</a:t>
            </a:r>
            <a:br/>
            <a:br/>
            <a:r>
              <a:t>You can't minimize pressure AND maximize flow</a:t>
            </a:r>
            <a:br/>
            <a:r>
              <a:t>at the same time — there's a tradeoff curve.</a:t>
            </a:r>
            <a:br/>
            <a:br/>
            <a:r>
              <a:t>Candidate Pareto fronts we'll explore:</a:t>
            </a:r>
            <a:br/>
            <a:br/>
            <a:r>
              <a:t>  1. ΔP vs Q_total</a:t>
            </a:r>
            <a:br/>
            <a:r>
              <a:t>     (classic resistance vs throughput)</a:t>
            </a:r>
            <a:br/>
            <a:br/>
            <a:r>
              <a:t>  2. ΔP vs CV_Qsh</a:t>
            </a:r>
            <a:br/>
            <a:r>
              <a:t>     (pressure vs flow uniformity)</a:t>
            </a:r>
            <a:br/>
            <a:br/>
            <a:r>
              <a:t>  3. 3D: ΔP vs Q_total vs CV_Qsh</a:t>
            </a:r>
            <a:br/>
            <a:r>
              <a:t>     (the full picture)</a:t>
            </a:r>
            <a:br/>
            <a:br/>
            <a:r>
              <a:t>We start with single-objective optimization</a:t>
            </a:r>
            <a:br/>
            <a:r>
              <a:t>and graduate to multi-objective Pareto once</a:t>
            </a:r>
            <a:br/>
            <a:r>
              <a:t>the surrogate model is trustworthy.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CC"/>
                </a:solidFill>
                <a:latin typeface="Calibri"/>
              </a:defRPr>
            </a:pPr>
            <a:r>
              <a:t>12/18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Calibri"/>
              </a:defRPr>
            </a:pPr>
            <a:r>
              <a:t>The GP Surrogate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Calibri"/>
              </a:defRPr>
            </a:pPr>
            <a:r>
              <a:t>src/surrogate/gp_model.py — learning to predict flow without simulating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What is a Gaussian Process (GP)?</a:t>
            </a:r>
            <a:br/>
            <a:br/>
            <a:r>
              <a:t>In plain English: it's a fancy curve-fitter that also</a:t>
            </a:r>
            <a:br/>
            <a:r>
              <a:t>tells you how confident it is in its predictions.</a:t>
            </a:r>
            <a:br/>
            <a:br/>
            <a:r>
              <a:t>• Feed it (design parameters, simulation results) pairs</a:t>
            </a:r>
            <a:br/>
            <a:r>
              <a:t>• It learns the relationship between them</a:t>
            </a:r>
            <a:br/>
            <a:r>
              <a:t>• For a NEW design, it predicts the flow metrics</a:t>
            </a:r>
            <a:br/>
            <a:r>
              <a:t>  AND gives an uncertainty band ("I'm 95% sure ΔP is</a:t>
            </a:r>
            <a:br/>
            <a:r>
              <a:t>  between 120–180 Pa for this design")</a:t>
            </a:r>
            <a:br/>
            <a:br/>
            <a:r>
              <a:t>Why not a neural network?</a:t>
            </a:r>
            <a:br/>
            <a:r>
              <a:t>• NNs need thousands of data points to train well</a:t>
            </a:r>
            <a:br/>
            <a:r>
              <a:t>• We have ~60–200 COMSOL results (each costs hours)</a:t>
            </a:r>
            <a:br/>
            <a:r>
              <a:t>• GPs are specifically designed for small-data regimes</a:t>
            </a:r>
            <a:br/>
            <a:r>
              <a:t>• The uncertainty estimates drive our optimization</a:t>
            </a:r>
            <a:br/>
            <a:br/>
            <a:r>
              <a:t>Kernel: Matérn 5/2 with ARD (Automatic Relevance Determination)</a:t>
            </a:r>
            <a:br/>
            <a:r>
              <a:t>→ The model automatically figures out which parameters matter most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303520" cy="475488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/>
          <a:lstStyle/>
          <a:p>
            <a:pPr algn="ctr">
              <a:defRPr sz="1100">
                <a:solidFill>
                  <a:srgbClr val="2ECC71"/>
                </a:solidFill>
                <a:latin typeface="Courier New"/>
              </a:defRPr>
            </a:pPr>
            <a:r>
              <a:t># Under the hood (gp_model.py):</a:t>
            </a:r>
            <a:br/>
            <a:r>
              <a:t>from botorch.models import SingleTaskGP</a:t>
            </a:r>
            <a:br/>
            <a:r>
              <a:t>from gpytorch.kernels import MaternKernel, ScaleKernel</a:t>
            </a:r>
            <a:br/>
            <a:br/>
            <a:r>
              <a:t>class GPModel:</a:t>
            </a:r>
            <a:br/>
            <a:r>
              <a:t>  def fit(self, X_train, y_train):</a:t>
            </a:r>
            <a:br/>
            <a:r>
              <a:t>    # Normalize inputs to [0,1]</a:t>
            </a:r>
            <a:br/>
            <a:r>
              <a:t>    train_X_norm = self._normalize_x(train_X)</a:t>
            </a:r>
            <a:br/>
            <a:r>
              <a:t>    # Standardize outputs (mean=0, std=1)</a:t>
            </a:r>
            <a:br/>
            <a:r>
              <a:t>    train_Y_scaled = self._standardize_y(train_Y)</a:t>
            </a:r>
            <a:br/>
            <a:br/>
            <a:r>
              <a:t>    # Matérn 5/2 kernel + ARD</a:t>
            </a:r>
            <a:br/>
            <a:r>
              <a:t>    covar = ScaleKernel(</a:t>
            </a:r>
            <a:br/>
            <a:r>
              <a:t>      MaternKernel(nu=2.5, ard_num_dims=16)</a:t>
            </a:r>
            <a:br/>
            <a:r>
              <a:t>    )</a:t>
            </a:r>
            <a:br/>
            <a:r>
              <a:t>    self.model = SingleTaskGP(</a:t>
            </a:r>
            <a:br/>
            <a:r>
              <a:t>      train_X_norm, train_Y_scaled,</a:t>
            </a:r>
            <a:br/>
            <a:r>
              <a:t>      covar_module=covar</a:t>
            </a:r>
            <a:br/>
            <a:r>
              <a:t>    )</a:t>
            </a:r>
            <a:br/>
            <a:r>
              <a:t>    # Optimize hyperparameters</a:t>
            </a:r>
            <a:br/>
            <a:r>
              <a:t>    fit_gpytorch_mll(self.mll)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CC"/>
                </a:solidFill>
                <a:latin typeface="Calibri"/>
              </a:defRPr>
            </a:pPr>
            <a:r>
              <a:t>13/18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Calibri"/>
              </a:defRPr>
            </a:pPr>
            <a:r>
              <a:t>Training &amp; Validating the Surrogate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Calibri"/>
              </a:defRPr>
            </a:pPr>
            <a:r>
              <a:t>src/surrogate/training.py — making sure the model actually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The GPTrainer handles the full workflow:</a:t>
            </a:r>
            <a:br/>
            <a:br/>
            <a:r>
              <a:t>1. Train on available (X, y) data</a:t>
            </a:r>
            <a:br/>
            <a:r>
              <a:t>2. Evaluate with multiple metrics:</a:t>
            </a:r>
            <a:br/>
            <a:r>
              <a:t>   • RMSE — overall prediction error</a:t>
            </a:r>
            <a:br/>
            <a:r>
              <a:t>   • MAE  — average absolute error</a:t>
            </a:r>
            <a:br/>
            <a:r>
              <a:t>   • R²   — how much variance is explained</a:t>
            </a:r>
            <a:br/>
            <a:r>
              <a:t>   • NLPD — uncertainty quality</a:t>
            </a:r>
            <a:br/>
            <a:r>
              <a:t>     (penalizes overconfident wrong predictions)</a:t>
            </a:r>
            <a:br/>
            <a:br/>
            <a:r>
              <a:t>3. Cross-validation (K-Fold):</a:t>
            </a:r>
            <a:br/>
            <a:r>
              <a:t>   Split data into 5 chunks, train on 4, test on 1,</a:t>
            </a:r>
            <a:br/>
            <a:r>
              <a:t>   rotate — gives honest estimate of generalization</a:t>
            </a:r>
            <a:br/>
            <a:br/>
            <a:r>
              <a:t>4. Blocked holdout validation:</a:t>
            </a:r>
            <a:br/>
            <a:r>
              <a:t>   Hold out entire batches (not random points)</a:t>
            </a:r>
            <a:br/>
            <a:r>
              <a:t>   to respect the sequential nature of the data</a:t>
            </a:r>
            <a:br/>
            <a:br/>
            <a:r>
              <a:t>If the model isn't accurate enough → we go back</a:t>
            </a:r>
            <a:br/>
            <a:r>
              <a:t>and collect more simulation data (adaptive sampling)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303520" cy="457200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/>
          <a:lstStyle/>
          <a:p>
            <a:pPr algn="ctr">
              <a:defRPr sz="1100">
                <a:solidFill>
                  <a:srgbClr val="2ECC71"/>
                </a:solidFill>
                <a:latin typeface="Courier New"/>
              </a:defRPr>
            </a:pPr>
            <a:r>
              <a:t># Training pipeline:</a:t>
            </a:r>
            <a:br/>
            <a:r>
              <a:t>trainer = GPTrainer()</a:t>
            </a:r>
            <a:br/>
            <a:r>
              <a:t>model, metrics = trainer.train(X, y)</a:t>
            </a:r>
            <a:br/>
            <a:br/>
            <a:r>
              <a:t># metrics = {</a:t>
            </a:r>
            <a:br/>
            <a:r>
              <a:t>#   'train_rmse': 12.4,</a:t>
            </a:r>
            <a:br/>
            <a:r>
              <a:t>#   'train_mae': 8.7,</a:t>
            </a:r>
            <a:br/>
            <a:r>
              <a:t>#   'train_r2': 0.94,</a:t>
            </a:r>
            <a:br/>
            <a:r>
              <a:t>#   'train_nlpd': 2.1</a:t>
            </a:r>
            <a:br/>
            <a:r>
              <a:t># }</a:t>
            </a:r>
            <a:br/>
            <a:br/>
            <a:r>
              <a:t># Cross-validation:</a:t>
            </a:r>
            <a:br/>
            <a:r>
              <a:t>cv_results = trainer.cross_validate(X, y, k_folds=5)</a:t>
            </a:r>
            <a:br/>
            <a:r>
              <a:t># Returns per-fold RMSE, R², etc.</a:t>
            </a:r>
            <a:br/>
            <a:br/>
            <a:r>
              <a:t># Evaluate uncertainty quality:</a:t>
            </a:r>
            <a:br/>
            <a:r>
              <a:t>def evaluate(model, X, y):</a:t>
            </a:r>
            <a:br/>
            <a:r>
              <a:t>    mean, var = model.predict(X)</a:t>
            </a:r>
            <a:br/>
            <a:r>
              <a:t>    # NLPD = 0.5*(log(2π·var) + (y-μ)²/var)</a:t>
            </a:r>
            <a:br/>
            <a:r>
              <a:t>    # High NLPD = model is overconfident</a:t>
            </a:r>
            <a:br/>
            <a:r>
              <a:t>    # and getting it wrong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CC"/>
                </a:solidFill>
                <a:latin typeface="Calibri"/>
              </a:defRPr>
            </a:pPr>
            <a:r>
              <a:t>14/18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Calibri"/>
              </a:defRPr>
            </a:pPr>
            <a:r>
              <a:t>Literature Backing: Maulik &amp; Taira (2020)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Calibri"/>
              </a:defRPr>
            </a:pPr>
            <a:r>
              <a:t>Phys. Rev. Fluids 5, 104401 — "Probabilistic Neural Networks for Fluid Flow"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What they showed:</a:t>
            </a:r>
            <a:br/>
            <a:br/>
            <a:r>
              <a:t>• Built "Probabilistic Neural Networks" (PNNs) that predict</a:t>
            </a:r>
            <a:br/>
            <a:r>
              <a:t>  BOTH the flow value AND the uncertainty — just like our GP</a:t>
            </a:r>
            <a:br/>
            <a:br/>
            <a:r>
              <a:t>• Key finding: modeling fluid dynamics outputs as a</a:t>
            </a:r>
            <a:br/>
            <a:r>
              <a:t>  Gaussian distribution works. The assumption holds.</a:t>
            </a:r>
            <a:br/>
            <a:r>
              <a:t>  → This directly validates our GP approach.</a:t>
            </a:r>
            <a:br/>
            <a:br/>
            <a:r>
              <a:t>• Tested on 4 problems:</a:t>
            </a:r>
            <a:br/>
            <a:r>
              <a:t>  1. Shallow water equations (geophysical flow)</a:t>
            </a:r>
            <a:br/>
            <a:r>
              <a:t>  2. Cylinder vortex shedding (canonical CFD)</a:t>
            </a:r>
            <a:br/>
            <a:r>
              <a:t>  3. NACA airfoil wake (complex turbulence)</a:t>
            </a:r>
            <a:br/>
            <a:r>
              <a:t>  4. Sea surface temperature (real-world noisy data)</a:t>
            </a:r>
            <a:br/>
            <a:br/>
            <a:r>
              <a:t>• Their uncertainty estimates correctly flagged</a:t>
            </a:r>
            <a:br/>
            <a:r>
              <a:t>  regions where the model was extrapolating</a:t>
            </a:r>
            <a:br/>
            <a:r>
              <a:t>  → same principle drives our acquisition function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71600"/>
            <a:ext cx="5029200" cy="22860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27000"/>
          <a:lstStyle/>
          <a:p>
            <a:pPr algn="ctr">
              <a:defRPr sz="1400">
                <a:solidFill>
                  <a:srgbClr val="FFFFFF"/>
                </a:solidFill>
                <a:latin typeface="Calibri"/>
              </a:defRPr>
            </a:pPr>
            <a:r>
              <a:t>Why this matters for us:</a:t>
            </a:r>
            <a:br/>
            <a:br/>
            <a:r>
              <a:t>Taira uses a Neural Network to approximate</a:t>
            </a:r>
            <a:br/>
            <a:r>
              <a:t>a Gaussian process (outputs μ and σ).</a:t>
            </a:r>
            <a:br/>
            <a:r>
              <a:t>We use an actual Gaussian Process.</a:t>
            </a:r>
            <a:br/>
            <a:br/>
            <a:r>
              <a:t>Their work proves the Gaussian assumption</a:t>
            </a:r>
            <a:br/>
            <a:r>
              <a:t>is physically valid for fluid flow surrogates.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3931920"/>
            <a:ext cx="5029200" cy="2286000"/>
          </a:xfrm>
          <a:prstGeom prst="round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27000"/>
          <a:lstStyle/>
          <a:p>
            <a:pPr algn="ctr">
              <a:defRPr sz="1400">
                <a:solidFill>
                  <a:srgbClr val="FFFFFF"/>
                </a:solidFill>
                <a:latin typeface="Calibri"/>
              </a:defRPr>
            </a:pPr>
            <a:r>
              <a:t>The data regime argument:</a:t>
            </a:r>
            <a:br/>
            <a:br/>
            <a:r>
              <a:t>Taira's PNN needs 100s–1000s of snapshots.</a:t>
            </a:r>
            <a:br/>
            <a:r>
              <a:t>We have ~60–200 COMSOL runs.</a:t>
            </a:r>
            <a:br/>
            <a:br/>
            <a:r>
              <a:t>GP is the mathematically correct choice</a:t>
            </a:r>
            <a:br/>
            <a:r>
              <a:t>for our "small data, high fidelity" problem.</a:t>
            </a:r>
            <a:br/>
            <a:r>
              <a:t>We're not disagreeing on physics —</a:t>
            </a:r>
            <a:br/>
            <a:r>
              <a:t>we're optimizing for our compute budget.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CC"/>
                </a:solidFill>
                <a:latin typeface="Calibri"/>
              </a:defRPr>
            </a:pPr>
            <a:r>
              <a:t>15/18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Calibri"/>
              </a:defRPr>
            </a:pPr>
            <a:r>
              <a:t>Bayesian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Calibri"/>
              </a:defRPr>
            </a:pPr>
            <a:r>
              <a:t>src/optimization/optimizer.py — closing the loop intelligently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Once the GP surrogate is trained, we use it to decide</a:t>
            </a:r>
            <a:br/>
            <a:r>
              <a:t>WHERE to simulate next — not randomly, but strategically.</a:t>
            </a:r>
            <a:br/>
            <a:br/>
            <a:r>
              <a:t>The acquisition function (Expected Improvement / qEI):</a:t>
            </a:r>
            <a:br/>
            <a:br/>
            <a:r>
              <a:t>  "Given what the GP knows so far, which untested</a:t>
            </a:r>
            <a:br/>
            <a:r>
              <a:t>   design is most likely to be BETTER than the</a:t>
            </a:r>
            <a:br/>
            <a:r>
              <a:t>   current best?"</a:t>
            </a:r>
            <a:br/>
            <a:br/>
            <a:r>
              <a:t>It balances:</a:t>
            </a:r>
            <a:br/>
            <a:r>
              <a:t>• Exploitation — designs the GP thinks are good</a:t>
            </a:r>
            <a:br/>
            <a:r>
              <a:t>• Exploration  — designs the GP is unsure about</a:t>
            </a:r>
            <a:br/>
            <a:r>
              <a:t>                 (high uncertainty = worth checking)</a:t>
            </a:r>
            <a:br/>
            <a:br/>
            <a:r>
              <a:t>The optimizer:</a:t>
            </a:r>
            <a:br/>
            <a:r>
              <a:t>1. Defines a scalarized objective (weighted Q_out + ΔP)</a:t>
            </a:r>
            <a:br/>
            <a:r>
              <a:t>2. Optimizes qEI in the normalized [0,1] space</a:t>
            </a:r>
            <a:br/>
            <a:r>
              <a:t>3. Denormalizes candidates back to physical units</a:t>
            </a:r>
            <a:br/>
            <a:r>
              <a:t>4. Filters for feasibility (rejects impossible ones)</a:t>
            </a:r>
            <a:br/>
            <a:r>
              <a:t>5. Returns the top candidates → simulate in COMSOL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303520" cy="484632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/>
          <a:lstStyle/>
          <a:p>
            <a:pPr algn="ctr">
              <a:defRPr sz="1100">
                <a:solidFill>
                  <a:srgbClr val="2ECC71"/>
                </a:solidFill>
                <a:latin typeface="Courier New"/>
              </a:defRPr>
            </a:pPr>
            <a:r>
              <a:t># optimizer.py core logic:</a:t>
            </a:r>
            <a:br/>
            <a:r>
              <a:t>class BayesianOptimizer:</a:t>
            </a:r>
            <a:br/>
            <a:r>
              <a:t>  def suggest(self, n_candidates=5):</a:t>
            </a:r>
            <a:br/>
            <a:r>
              <a:t>    # Scalarized objective</a:t>
            </a:r>
            <a:br/>
            <a:r>
              <a:t>    weights = {'q_out': 1.0, 'delta_p': -0.001}</a:t>
            </a:r>
            <a:br/>
            <a:r>
              <a:t>    objective = ScalarizedPosteriorTransform(</a:t>
            </a:r>
            <a:br/>
            <a:r>
              <a:t>        weights=weights_tensor)</a:t>
            </a:r>
            <a:br/>
            <a:br/>
            <a:r>
              <a:t>    # Acquisition function</a:t>
            </a:r>
            <a:br/>
            <a:r>
              <a:t>    acq = qExpectedImprovement(</a:t>
            </a:r>
            <a:br/>
            <a:r>
              <a:t>        model=self.model.model,</a:t>
            </a:r>
            <a:br/>
            <a:r>
              <a:t>        best_f=self._get_best_f(objective),</a:t>
            </a:r>
            <a:br/>
            <a:r>
              <a:t>        posterior_transform=objective)</a:t>
            </a:r>
            <a:br/>
            <a:br/>
            <a:r>
              <a:t>    # Optimize (oversample for feasibility)</a:t>
            </a:r>
            <a:br/>
            <a:r>
              <a:t>    candidates, _ = optimize_acqf(</a:t>
            </a:r>
            <a:br/>
            <a:r>
              <a:t>        acq, bounds=[[0]*16, [1]*16],</a:t>
            </a:r>
            <a:br/>
            <a:r>
              <a:t>        q=n_candidates * 10,</a:t>
            </a:r>
            <a:br/>
            <a:r>
              <a:t>        num_restarts=10, raw_samples=512)</a:t>
            </a:r>
            <a:br/>
            <a:br/>
            <a:r>
              <a:t>    # Denormalize + filter</a:t>
            </a:r>
            <a:br/>
            <a:r>
              <a:t>    valid = self.feasibility.filter(</a:t>
            </a:r>
            <a:br/>
            <a:r>
              <a:t>        self._denormalize(candidates))</a:t>
            </a:r>
            <a:br/>
            <a:r>
              <a:t>    return valid[:n_candidates]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CC"/>
                </a:solidFill>
                <a:latin typeface="Calibri"/>
              </a:defRPr>
            </a:pPr>
            <a:r>
              <a:t>16/18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Calibri"/>
              </a:defRPr>
            </a:pPr>
            <a:r>
              <a:t>The Full Campaign Script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Calibri"/>
              </a:defRPr>
            </a:pPr>
            <a:r>
              <a:t>scripts/run_optimization_campaign.py — tying it all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This is the master orchestrator that runs the entire</a:t>
            </a:r>
            <a:br/>
            <a:r>
              <a:t>active learning loop:</a:t>
            </a:r>
            <a:br/>
            <a:br/>
            <a:r>
              <a:t>Step 1: Check for existing data</a:t>
            </a:r>
            <a:br/>
            <a:r>
              <a:t>  → If none: generate initial LHS batch (with filtering)</a:t>
            </a:r>
            <a:br/>
            <a:r>
              <a:t>  → If data exists: proceed to training</a:t>
            </a:r>
            <a:br/>
            <a:br/>
            <a:r>
              <a:t>Step 2: Train GP surrogate on all available data</a:t>
            </a:r>
            <a:br/>
            <a:r>
              <a:t>  → Reports RMSE, R² to terminal</a:t>
            </a:r>
            <a:br/>
            <a:br/>
            <a:r>
              <a:t>Step 3: Run Bayesian Optimization</a:t>
            </a:r>
            <a:br/>
            <a:r>
              <a:t>  → Suggests next batch of candidates</a:t>
            </a:r>
            <a:br/>
            <a:br/>
            <a:r>
              <a:t>Step 4: Generate CAD (.STEP) files for each candidate</a:t>
            </a:r>
            <a:br/>
            <a:r>
              <a:t>  → Validates geometry, exports files</a:t>
            </a:r>
            <a:br/>
            <a:br/>
            <a:r>
              <a:t>Step 5: Save batch manifest CSV</a:t>
            </a:r>
            <a:br/>
            <a:r>
              <a:t>  → Prints "NEXT STEPS: run COMSOL on these designs"</a:t>
            </a:r>
            <a:br/>
            <a:br/>
            <a:r>
              <a:t>Then you run COMSOL, append results,</a:t>
            </a:r>
            <a:br/>
            <a:r>
              <a:t>and run the script again → the loop continues.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303520" cy="484632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/>
          <a:lstStyle/>
          <a:p>
            <a:pPr algn="ctr">
              <a:defRPr sz="1100">
                <a:solidFill>
                  <a:srgbClr val="2ECC71"/>
                </a:solidFill>
                <a:latin typeface="Courier New"/>
              </a:defRPr>
            </a:pPr>
            <a:r>
              <a:t># Campaign CLI:</a:t>
            </a:r>
            <a:br/>
            <a:r>
              <a:t>python scripts/run_optimization_campaign.py \</a:t>
            </a:r>
            <a:br/>
            <a:r>
              <a:t>  --campaign campaign_001 \</a:t>
            </a:r>
            <a:br/>
            <a:r>
              <a:t>  --batch_size 5 \</a:t>
            </a:r>
            <a:br/>
            <a:r>
              <a:t>  --init_lhs       # (first time only)</a:t>
            </a:r>
            <a:br/>
            <a:r>
              <a:t>  --n_init 20</a:t>
            </a:r>
            <a:br/>
            <a:br/>
            <a:r>
              <a:t># Output:</a:t>
            </a:r>
            <a:br/>
            <a:r>
              <a:t># ==========================================</a:t>
            </a:r>
            <a:br/>
            <a:r>
              <a:t># NEXT STEPS for Batch 0:</a:t>
            </a:r>
            <a:br/>
            <a:r>
              <a:t># 1. Run COMSOL simulation for designs</a:t>
            </a:r>
            <a:br/>
            <a:r>
              <a:t>#    listed in:</a:t>
            </a:r>
            <a:br/>
            <a:r>
              <a:t>#    data/campaigns/campaign_001/batch_0000.csv</a:t>
            </a:r>
            <a:br/>
            <a:r>
              <a:t># 2. Append results to:</a:t>
            </a:r>
            <a:br/>
            <a:r>
              <a:t>#    data/campaigns/campaign_001/results.csv</a:t>
            </a:r>
            <a:br/>
            <a:r>
              <a:t># ==========================================</a:t>
            </a:r>
            <a:br/>
            <a:br/>
            <a:r>
              <a:t># After COMSOL, run again:</a:t>
            </a:r>
            <a:br/>
            <a:r>
              <a:t>python scripts/run_optimization_campaign.py \</a:t>
            </a:r>
            <a:br/>
            <a:r>
              <a:t>  --campaign campaign_001 \</a:t>
            </a:r>
            <a:br/>
            <a:r>
              <a:t>  --batch_size 5</a:t>
            </a:r>
            <a:br/>
            <a:r>
              <a:t># → trains GP on data, suggests NEXT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CC"/>
                </a:solidFill>
                <a:latin typeface="Calibri"/>
              </a:defRPr>
            </a:pPr>
            <a:r>
              <a:t>17/18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Calibri"/>
              </a:defRPr>
            </a:pPr>
            <a:r>
              <a:t>Key Engineering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Calibri"/>
              </a:defRPr>
            </a:pPr>
            <a:r>
              <a:t>The "why" behind each choice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0D2FF"/>
                </a:solidFill>
                <a:latin typeface="Calibri"/>
              </a:defRPr>
            </a:pPr>
            <a:r>
              <a:t>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46304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Start single-objective → graduate to Pareto</a:t>
            </a:r>
            <a:br/>
            <a:r>
              <a:t>once uncertainty is calibrated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4028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0D2FF"/>
                </a:solidFill>
                <a:latin typeface="Calibri"/>
              </a:defRPr>
            </a:pPr>
            <a:r>
              <a:t>Transforms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24028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Inputs normalized [0,1]; log-transform outputs</a:t>
            </a:r>
            <a:br/>
            <a:r>
              <a:t>if they span orders of magnitude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1752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0D2FF"/>
                </a:solidFill>
                <a:latin typeface="Calibri"/>
              </a:defRPr>
            </a:pPr>
            <a:r>
              <a:t>Sampling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301752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LHS 3× oversample → adaptive BO</a:t>
            </a:r>
            <a:br/>
            <a:r>
              <a:t>(space-filling baseline, then targeted)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9476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0D2FF"/>
                </a:solidFill>
                <a:latin typeface="Calibri"/>
              </a:defRPr>
            </a:pPr>
            <a:r>
              <a:t>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379476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GP/Kriging over Neural Nets</a:t>
            </a:r>
            <a:br/>
            <a:r>
              <a:t>(works with &lt;200 data points)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46304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0D2FF"/>
                </a:solidFill>
                <a:latin typeface="Calibri"/>
              </a:defRPr>
            </a:pPr>
            <a:r>
              <a:t>Kernel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0" y="146304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Matérn 5/2 + ARD + noise</a:t>
            </a:r>
            <a:br/>
            <a:r>
              <a:t>(smooth-but-not-too-smooth; identifies key dims)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24028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0D2FF"/>
                </a:solidFill>
                <a:latin typeface="Calibri"/>
              </a:defRPr>
            </a:pPr>
            <a:r>
              <a:t>Training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0" y="224028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Marginal likelihood (MLE)</a:t>
            </a:r>
            <a:br/>
            <a:r>
              <a:t>(stable, fast; upgrade to Bayesian if needed)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01752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0D2FF"/>
                </a:solidFill>
                <a:latin typeface="Calibri"/>
              </a:defRPr>
            </a:pPr>
            <a:r>
              <a:t>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0" y="301752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Blocked holdout</a:t>
            </a:r>
            <a:br/>
            <a:r>
              <a:t>(respects sequential batch structure)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79476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0D2FF"/>
                </a:solidFill>
                <a:latin typeface="Calibri"/>
              </a:defRPr>
            </a:pPr>
            <a:r>
              <a:t>Acquisition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0" y="379476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EI/qEI → EHVI/qNEHVI</a:t>
            </a:r>
            <a:br/>
            <a:r>
              <a:t>(proven → Pareto-aware)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CC"/>
                </a:solidFill>
                <a:latin typeface="Calibri"/>
              </a:defRPr>
            </a:pPr>
            <a:r>
              <a:t>18/18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Calibri"/>
              </a:defRPr>
            </a:pPr>
            <a:r>
              <a:t>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✅  Pipeline code is built and tested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✅  Parameter space defined (16 dimensions, config-driven)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✅  LHS sampling + feasibility filtering operational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✅  GP model wrapper + training pipeline ready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✅  Bayesian Optimizer implemented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⏳  Coordinate with Parnian on COMSOL model setup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⏳  Run first LHS batch through COMSOL (60 designs)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⏳  Train initial GP surrogate, validate on holdout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⏳  Begin active learning loop (BO → COMSOL → retrain)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⏳  Graduate to multi-objective Pareto optimization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⏳  Convergence → final optimal stent designs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CC"/>
                </a:solidFill>
                <a:latin typeface="Calibri"/>
              </a:defRPr>
            </a:pPr>
            <a:r>
              <a:t>19/18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D2FF"/>
                </a:solidFill>
                <a:latin typeface="Calibri"/>
              </a:defRPr>
            </a:pPr>
            <a:r>
              <a:t>Pipeline code: github.com/akashc/masters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Calibri"/>
              </a:defRPr>
            </a:pPr>
            <a:r>
              <a:t>Docs: docs/pipeline_overview.md  |  docs/decisions_gp_surrogate.md  |  docs/metrics_catalog.md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CC"/>
                </a:solidFill>
                <a:latin typeface="Calibri"/>
              </a:defRPr>
            </a:pPr>
            <a:r>
              <a:t>20/18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