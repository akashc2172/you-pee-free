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71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5"/>
    <p:restoredTop sz="94710"/>
  </p:normalViewPr>
  <p:slideViewPr>
    <p:cSldViewPr snapToGrid="0" snapToObjects="1">
      <p:cViewPr>
        <p:scale>
          <a:sx n="108" d="100"/>
          <a:sy n="108" d="100"/>
        </p:scale>
        <p:origin x="416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62F05-3078-ED4D-9F7E-ACC5214F43D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FC8DE-87A0-9E40-8663-4A31378E6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C8DE-87A0-9E40-8663-4A31378E6E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8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60858" y="2194560"/>
            <a:ext cx="5839804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GP Surrogate + Decision Loop</a:t>
            </a:r>
          </a:p>
          <a:p>
            <a:pPr algn="ctr">
              <a:defRPr sz="2800">
                <a:solidFill>
                  <a:srgbClr val="CCCCCC"/>
                </a:solidFill>
              </a:defRPr>
            </a:pPr>
            <a:r>
              <a:rPr dirty="0"/>
              <a:t>for COMSOL-Driven Stent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rPr lang="en-US" dirty="0"/>
              <a:t>Current </a:t>
            </a:r>
            <a:r>
              <a:rPr dirty="0"/>
              <a:t>Goal: Defensible methods + efficient simulation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What's Already Solid (Engineering Side)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Design</a:t>
            </a:r>
            <a:br/>
            <a:r>
              <a:t>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22860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CAD 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COMSOL</a:t>
            </a:r>
            <a:br/>
            <a:r>
              <a:t>CFD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2860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Metric</a:t>
            </a:r>
            <a:br/>
            <a:r>
              <a:t>extraction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265176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806440" y="265176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183880" y="265176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✓ This part is working. Benchtop testing (6 commercial stents) + sim pipeline complete.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D3D3D"/>
                </a:solidFill>
              </a:defRPr>
            </a:pPr>
            <a:r>
              <a:t>Decisions begin after metrics → GP fit → acquisition loop</a:t>
            </a:r>
          </a:p>
          <a:p>
            <a:pPr algn="ctr">
              <a:defRPr sz="1800" i="1">
                <a:solidFill>
                  <a:srgbClr val="2E75B6"/>
                </a:solidFill>
              </a:defRPr>
            </a:pPr>
            <a:r>
              <a:t>This is where I want your expertise.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463040" cy="777240"/>
          </a:xfrm>
          <a:prstGeom prst="roundRect">
            <a:avLst/>
          </a:prstGeom>
          <a:solidFill>
            <a:srgbClr val="EEEEEE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D3D3D"/>
                </a:solidFill>
              </a:defRPr>
            </a:pPr>
            <a:r>
              <a:t>14 params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design vec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645920"/>
            <a:ext cx="1463040" cy="777240"/>
          </a:xfrm>
          <a:prstGeom prst="roundRect">
            <a:avLst/>
          </a:prstGeom>
          <a:solidFill>
            <a:srgbClr val="EEEEEE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D3D3D"/>
                </a:solidFill>
              </a:defRPr>
            </a:pPr>
            <a:r>
              <a:t>Validity</a:t>
            </a:r>
            <a:br/>
            <a:r>
              <a:t>filter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3× oversample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1645920"/>
            <a:ext cx="1463040" cy="777240"/>
          </a:xfrm>
          <a:prstGeom prst="roundRect">
            <a:avLst/>
          </a:prstGeom>
          <a:solidFill>
            <a:srgbClr val="2E75B6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COMSOL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CFD 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645920"/>
            <a:ext cx="1463040" cy="777240"/>
          </a:xfrm>
          <a:prstGeom prst="roundRect">
            <a:avLst/>
          </a:prstGeom>
          <a:solidFill>
            <a:srgbClr val="EEEEEE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D3D3D"/>
                </a:solidFill>
              </a:defRPr>
            </a:pPr>
            <a:r>
              <a:t>Metrics y</a:t>
            </a:r>
          </a:p>
          <a:p>
            <a:pPr algn="ctr">
              <a:defRPr sz="1000">
                <a:solidFill>
                  <a:srgbClr val="888888"/>
                </a:solidFill>
              </a:defRPr>
            </a:pPr>
            <a:r>
              <a:t>ΔP,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1463040" cy="777240"/>
          </a:xfrm>
          <a:prstGeom prst="roundRect">
            <a:avLst/>
          </a:prstGeom>
          <a:solidFill>
            <a:srgbClr val="2E75B6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 fit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mean + 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1463040" cy="777240"/>
          </a:xfrm>
          <a:prstGeom prst="roundRect">
            <a:avLst/>
          </a:prstGeom>
          <a:solidFill>
            <a:srgbClr val="E65100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Acquire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EI/UCB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56232" y="1961388"/>
            <a:ext cx="173736" cy="146304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547872" y="1961388"/>
            <a:ext cx="173736" cy="146304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239512" y="1961388"/>
            <a:ext cx="173736" cy="146304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6931152" y="1961388"/>
            <a:ext cx="173736" cy="146304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8622792" y="1961388"/>
            <a:ext cx="173736" cy="146304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3D3D3D"/>
                </a:solidFill>
              </a:defRPr>
            </a:pPr>
            <a:r>
              <a:t>← Iterate until budget exhausted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3D3D"/>
                </a:solidFill>
              </a:defRPr>
            </a:pPr>
            <a:r>
              <a:rPr dirty="0"/>
              <a:t>COMSOL Outputs (y):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rPr dirty="0"/>
              <a:t>• ΔP (pressure drop)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Q_out</a:t>
            </a:r>
            <a:r>
              <a:rPr dirty="0"/>
              <a:t> (total flow)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rPr dirty="0"/>
              <a:t>• Q_SH (side-hole fluxes)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rPr dirty="0"/>
              <a:t>• WSS (future)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D3D3D"/>
                </a:solidFill>
              </a:defRPr>
            </a:pPr>
            <a:r>
              <a:t>Sampling Strategy: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t>• 11 direct + 3 fractions = 14 params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t>• Derive: OD, ID, wall, hole_dia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t>• oversample_factor = 3</a:t>
            </a:r>
          </a:p>
          <a:p>
            <a:pPr>
              <a:defRPr sz="1200">
                <a:solidFill>
                  <a:srgbClr val="3D3D3D"/>
                </a:solidFill>
              </a:defRPr>
            </a:pPr>
            <a:r>
              <a:t>• Initial LHS: 60 pts (5×dim)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Design Variables (14 sampled → ~12 effective dimensions)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0292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stent_french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4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stent_length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100 –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coil_radius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5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coil_length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10 –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pigtail_angle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270 – 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section_proximal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20 –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section_distal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20 –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n_proximal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n_middle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n_distal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unroofed_length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 –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r_t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0.10 – 0.22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Fraction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r_sh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0.20 – 0.70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Fraction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r_end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0.30 – 0.95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D3D3D"/>
                          </a:solidFill>
                        </a:defRPr>
                      </a:pPr>
                      <a:r>
                        <a:t>Fraction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097280"/>
            <a:ext cx="5943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dirty="0"/>
              <a:t>Derived Parameters:</a:t>
            </a:r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OD = 0.333 × </a:t>
            </a:r>
            <a:r>
              <a:rPr dirty="0" err="1"/>
              <a:t>stent_french</a:t>
            </a:r>
            <a:endParaRPr dirty="0"/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wall_thickness</a:t>
            </a:r>
            <a:r>
              <a:rPr dirty="0"/>
              <a:t> = </a:t>
            </a:r>
            <a:r>
              <a:rPr dirty="0" err="1"/>
              <a:t>r_t</a:t>
            </a:r>
            <a:r>
              <a:rPr dirty="0"/>
              <a:t> × OD</a:t>
            </a:r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ID = OD − 2 × </a:t>
            </a:r>
            <a:r>
              <a:rPr dirty="0" err="1"/>
              <a:t>wall_thickness</a:t>
            </a:r>
            <a:endParaRPr dirty="0"/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side_hole_diameter</a:t>
            </a:r>
            <a:r>
              <a:rPr dirty="0"/>
              <a:t> = min(</a:t>
            </a:r>
            <a:r>
              <a:rPr dirty="0" err="1"/>
              <a:t>r_sh</a:t>
            </a:r>
            <a:r>
              <a:rPr dirty="0"/>
              <a:t> × ID, ID − 0.15)</a:t>
            </a:r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end_hole_diameter</a:t>
            </a:r>
            <a:r>
              <a:rPr dirty="0"/>
              <a:t> = min(</a:t>
            </a:r>
            <a:r>
              <a:rPr dirty="0" err="1"/>
              <a:t>r_end</a:t>
            </a:r>
            <a:r>
              <a:rPr dirty="0"/>
              <a:t> × ID, ID − 0.15)</a:t>
            </a:r>
          </a:p>
          <a:p>
            <a:pPr>
              <a:defRPr sz="11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section_middle</a:t>
            </a:r>
            <a:r>
              <a:rPr dirty="0"/>
              <a:t> = length − 2×coil − </a:t>
            </a:r>
            <a:r>
              <a:rPr dirty="0" err="1"/>
              <a:t>prox</a:t>
            </a:r>
            <a:r>
              <a:rPr dirty="0"/>
              <a:t> − </a:t>
            </a:r>
            <a:r>
              <a:rPr dirty="0" err="1"/>
              <a:t>dist</a:t>
            </a:r>
            <a:endParaRPr dirty="0"/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A1E98-A917-F9EA-225C-0DE1F36F0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49" y="2699351"/>
            <a:ext cx="3458430" cy="3780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Feasibility Constraints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Rejection Rule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ID_min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0.6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Reject if ID &lt; 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d_sh_min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0.3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Reject if d_sh &lt; 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gap_min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0.3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pitch_min = d_sh + gap_min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max(1.0, d_sh)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L_use = L_section − 2×buffer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section_middle_min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10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Reject if middle &lt;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D3D3D"/>
                </a:solidFill>
              </a:defRPr>
            </a:pPr>
            <a:r>
              <a:t>Current Approach: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Sample fractions (r_t, r_sh, r_end) instead of absolute dimensions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Derive wall_thickness, hole diameters from OD/ID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Oversample ~3× and reject invalid rows before fitting GP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Hole-packing check: n_holes × pitch_min ≤ usable section length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26132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Decision 1: </a:t>
            </a:r>
            <a:r>
              <a:rPr lang="en-US" dirty="0"/>
              <a:t>Defining what we are o</a:t>
            </a:r>
            <a:r>
              <a:rPr dirty="0"/>
              <a:t>ptimizing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A) Single objective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 (e.g., minimize ΔP)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B) Scalarization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 (weighted sum of objectives</a:t>
            </a:r>
            <a:r>
              <a:rPr lang="en-US" dirty="0"/>
              <a:t> </a:t>
            </a:r>
            <a:r>
              <a:rPr lang="en-US" dirty="0" err="1"/>
              <a:t>tbd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C) True multi-objective Pareto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 (ΔP vs </a:t>
            </a:r>
            <a:r>
              <a:rPr dirty="0" err="1"/>
              <a:t>Q_out</a:t>
            </a:r>
            <a:r>
              <a:rPr dirty="0"/>
              <a:t> vs side-hole flux)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Start single or scalarization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to validate loop;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graduate to Pareto once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calibration is trusted.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Reduces failure modes early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Avoids premature Pareto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before uncertainty is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calibrated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Simpler debugging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2: Data Preprocessing &amp; Transforms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Input normalization: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[0,1] scaling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z-score (mean=0, std=1)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Output transforms: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None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Log for ΔP/flux metrics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Box-Cox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Normalize all inputs to [0,1]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Consider log transforms for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ΔP / flux if spanning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t>orders of magnitude.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Kernel distance depends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on scaling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Transforms stabilize GP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assumptions (homoscedastic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noise, stationarity)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72185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Decision 3: Sampling Plan 14 sampled → </a:t>
            </a:r>
            <a:r>
              <a:rPr lang="en-US" dirty="0"/>
              <a:t>~</a:t>
            </a:r>
            <a:r>
              <a:rPr dirty="0"/>
              <a:t>12 effective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A) Pure LHS (space-filling only)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B) LHS → adaptive BO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 (our plan)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C) BO from the start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Config: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default_samples</a:t>
            </a:r>
            <a:r>
              <a:rPr dirty="0"/>
              <a:t>: 60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dirty="0" err="1"/>
              <a:t>oversample_factor</a:t>
            </a:r>
            <a:r>
              <a:rPr dirty="0"/>
              <a:t>: 3</a:t>
            </a:r>
            <a:r>
              <a:rPr lang="en-US" dirty="0"/>
              <a:t> </a:t>
            </a:r>
            <a:r>
              <a:rPr lang="en-US" dirty="0" err="1"/>
              <a:t>mayb</a:t>
            </a:r>
            <a:r>
              <a:rPr lang="en-US" dirty="0"/>
              <a:t> 4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Initial LHS + feasibility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filtering (3× oversample)</a:t>
            </a:r>
            <a:r>
              <a:rPr lang="en-US" dirty="0"/>
              <a:t> (all dimensions normalized ∈[0,1])</a:t>
            </a:r>
            <a:endParaRPr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Then adaptive sampling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via EI/UCB.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Space-filling baseline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Reduces invalid designs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before GP sees data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Supports stable GP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initialization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E01486-8236-7503-14B9-8C923295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46" b="38671"/>
          <a:stretch/>
        </p:blipFill>
        <p:spPr>
          <a:xfrm>
            <a:off x="2209647" y="4722346"/>
            <a:ext cx="7772400" cy="1820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6356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Decision 4: Surrogate Model </a:t>
            </a:r>
            <a:r>
              <a:rPr lang="en-US" dirty="0"/>
              <a:t>y(x)=f(x)+</a:t>
            </a:r>
            <a:r>
              <a:rPr lang="el-GR" dirty="0"/>
              <a:t>ϵ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182910"/>
              </p:ext>
            </p:extLst>
          </p:nvPr>
        </p:nvGraphicFramePr>
        <p:xfrm>
          <a:off x="457200" y="1280160"/>
          <a:ext cx="82296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Uncertainty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GP / Kriging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✓ Principled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/>
                        <a:t>~1k pts</a:t>
                      </a:r>
                      <a:r>
                        <a:rPr lang="en-US" dirty="0"/>
                        <a:t> but prob go for like 500?</a:t>
                      </a:r>
                      <a:endParaRPr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Chosen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 err="1"/>
                        <a:t>XGBoost</a:t>
                      </a:r>
                      <a:r>
                        <a:rPr dirty="0"/>
                        <a:t> + quantile</a:t>
                      </a:r>
                      <a:r>
                        <a:rPr lang="en-US" dirty="0"/>
                        <a:t> or ensemble it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≈ 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Alt for big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NN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≈ 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/>
                        <a:t>Polynomial RSM</a:t>
                      </a:r>
                      <a:r>
                        <a:rPr lang="en-US" dirty="0"/>
                        <a:t> / just normal </a:t>
                      </a:r>
                      <a:r>
                        <a:rPr lang="en-US" dirty="0" err="1"/>
                        <a:t>lin</a:t>
                      </a:r>
                      <a:r>
                        <a:rPr lang="en-US" dirty="0"/>
                        <a:t> reg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t>✓ (variance)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D3D3D"/>
                          </a:solidFill>
                        </a:defRPr>
                      </a:pPr>
                      <a:r>
                        <a:rPr dirty="0"/>
                        <a:t>Sanity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dirty="0"/>
              <a:t>CURRENT CHOICE</a:t>
            </a:r>
          </a:p>
          <a:p>
            <a:pPr>
              <a:defRPr sz="1600" b="1">
                <a:solidFill>
                  <a:srgbClr val="2E7D32"/>
                </a:solidFill>
              </a:defRPr>
            </a:pPr>
            <a:r>
              <a:rPr dirty="0"/>
              <a:t>GP/Kriging as primary surrogate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rPr lang="en-US" dirty="0"/>
              <a:t>And prob use</a:t>
            </a:r>
            <a:r>
              <a:rPr dirty="0"/>
              <a:t> polynomial RSM for sanity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B6"/>
                </a:solidFill>
              </a:defRPr>
            </a:pPr>
            <a:r>
              <a:t>WHY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Principled posterior uncertainty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Standard for 'computer experiments'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• Supports acquisition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5: GP Specifics (Kernel + ARD + Noise)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Kernel: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RBF / Squared Exp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lang="en-US" dirty="0" err="1"/>
              <a:t>Matern</a:t>
            </a:r>
            <a:r>
              <a:rPr dirty="0"/>
              <a:t> 5/2 </a:t>
            </a:r>
            <a:endParaRPr lang="en-US"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</a:t>
            </a:r>
            <a:r>
              <a:rPr lang="en-US" dirty="0" err="1"/>
              <a:t>Matern</a:t>
            </a:r>
            <a:r>
              <a:rPr dirty="0"/>
              <a:t> 3/2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Length-scales: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ARD (</a:t>
            </a:r>
            <a:r>
              <a:rPr lang="en-US" dirty="0"/>
              <a:t>Automatic Relevance Determination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Single shared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Noise: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Interpolating (noise=0)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• Nonzero noise term</a:t>
            </a:r>
            <a:r>
              <a:rPr lang="en-US" dirty="0"/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 err="1"/>
              <a:t>Matérn</a:t>
            </a:r>
            <a:r>
              <a:rPr dirty="0"/>
              <a:t> 5/2</a:t>
            </a:r>
            <a:r>
              <a:rPr lang="en-US" dirty="0"/>
              <a:t> first and hope that all the sections contribute under that smoothness definition but rotate thru stationary models if it is underfit/uncertain, and worst case, try additive kernel option (below)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ARD length-scales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small nonzero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Smooth-but-not-too-smooth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(twice differentiable)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Avoids overconfidence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(RBF can oversmooth)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ARD → interpretability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Noise handles solver/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mesh jitter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F3A88-AF27-DDF5-0F3A-07E621290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68" r="13840" b="36307"/>
          <a:stretch/>
        </p:blipFill>
        <p:spPr>
          <a:xfrm>
            <a:off x="2747500" y="5438304"/>
            <a:ext cx="6696694" cy="7362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A457CB-E578-E9FE-DF6B-A19FC5D774AE}"/>
              </a:ext>
            </a:extLst>
          </p:cNvPr>
          <p:cNvSpPr txBox="1"/>
          <p:nvPr/>
        </p:nvSpPr>
        <p:spPr>
          <a:xfrm>
            <a:off x="2873829" y="4948094"/>
            <a:ext cx="6139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Additive kernel option could also be an option since </a:t>
            </a:r>
            <a:r>
              <a:rPr lang="en-US" dirty="0" err="1"/>
              <a:t>prox</a:t>
            </a:r>
            <a:r>
              <a:rPr lang="en-US" dirty="0"/>
              <a:t>/middle/distal sections might contribute semi-</a:t>
            </a:r>
            <a:r>
              <a:rPr lang="en-US" dirty="0" err="1"/>
              <a:t>independetly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6: Training Procedure ('The Fit')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A) Maximize marginal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likelihood (MLE</a:t>
            </a:r>
            <a:r>
              <a:rPr lang="en-US" dirty="0"/>
              <a:t>; if fits are unstable, try </a:t>
            </a:r>
            <a:r>
              <a:rPr dirty="0"/>
              <a:t>MAP</a:t>
            </a:r>
            <a:r>
              <a:rPr lang="en-US" dirty="0"/>
              <a:t> priors)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— standard approach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B) Fully Bayesian inference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(MCMC over </a:t>
            </a:r>
            <a:r>
              <a:rPr dirty="0" err="1"/>
              <a:t>hyperparams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rPr dirty="0"/>
              <a:t>   — heavier, more robust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Marginal likelihood fitting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first;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Bayesian priors later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only if needed.</a:t>
            </a:r>
            <a:r>
              <a:rPr lang="en-US" dirty="0"/>
              <a:t> But based on old results, doubt this is needed.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Stable, fast iteration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Defensible precedent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for engineering BO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Can upgrade to full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Bayes if instability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1139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Decision 7: </a:t>
            </a:r>
            <a:r>
              <a:rPr lang="en-US" dirty="0"/>
              <a:t>Training Split (Very TBD)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A) Random split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(often too easy)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B) Blocked / region holdout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(chosen)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C) Hold out extremes / corners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(stress test; chosen)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Blocked holdout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+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Extremes / corner holdout</a:t>
            </a:r>
            <a:endParaRPr lang="en-US"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Matches sequential design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reality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Guards against over-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optimistic RMSE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Tests extrapolation,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not just interpolation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9FE3-7179-7DD7-6140-BFE0C6AA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3226E-16C9-B357-E355-40321908772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8F42A-5792-A805-AFA5-83FF1839B9C3}"/>
              </a:ext>
            </a:extLst>
          </p:cNvPr>
          <p:cNvSpPr txBox="1"/>
          <p:nvPr/>
        </p:nvSpPr>
        <p:spPr>
          <a:xfrm>
            <a:off x="457200" y="228600"/>
            <a:ext cx="32419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Decision 7: </a:t>
            </a:r>
            <a:r>
              <a:rPr lang="en-US" dirty="0"/>
              <a:t>(Very TBD)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3E1AA61-1645-3B4D-C243-ACC4805EA185}"/>
              </a:ext>
            </a:extLst>
          </p:cNvPr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E0A34-DBDB-902E-1A42-744D6868A55D}"/>
              </a:ext>
            </a:extLst>
          </p:cNvPr>
          <p:cNvSpPr txBox="1"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A) Random split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(often too easy)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B) Blocked / region holdout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(chosen)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C) Hold out extremes / corners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 (stress test; chosen)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B9F452-6808-EB6D-6613-AAC71096290F}"/>
              </a:ext>
            </a:extLst>
          </p:cNvPr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7911F-FC69-063C-A34E-D4B87EB7828F}"/>
              </a:ext>
            </a:extLst>
          </p:cNvPr>
          <p:cNvSpPr txBox="1"/>
          <p:nvPr/>
        </p:nvSpPr>
        <p:spPr>
          <a:xfrm>
            <a:off x="4206240" y="1691640"/>
            <a:ext cx="36576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Blocked holdout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+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Extremes / corner holdout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FBE2B-651F-0538-E443-CD26934970FE}"/>
              </a:ext>
            </a:extLst>
          </p:cNvPr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5D6F9-17E4-64E5-AE59-6CD2FEA95174}"/>
              </a:ext>
            </a:extLst>
          </p:cNvPr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Matches sequential design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reality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Guards against over-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optimistic RMSE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Tests extrapolation,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not just interpolation</a:t>
            </a:r>
          </a:p>
        </p:txBody>
      </p:sp>
    </p:spTree>
    <p:extLst>
      <p:ext uri="{BB962C8B-B14F-4D97-AF65-F5344CB8AC3E}">
        <p14:creationId xmlns:p14="http://schemas.microsoft.com/office/powerpoint/2010/main" val="2131257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8: Acquisition / Selecting Next COMSOL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Single-objective: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EI / qEI (Expected Improv.)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UCB / LCB (exploration ctrl)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Multi-objective: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EHVI (Expected HV Improv.)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qNEHVI (batch Pareto)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CURRENT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65760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EI / </a:t>
            </a:r>
            <a:r>
              <a:rPr dirty="0" err="1"/>
              <a:t>qEI</a:t>
            </a:r>
            <a:r>
              <a:rPr dirty="0"/>
              <a:t> early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EHVI / </a:t>
            </a:r>
            <a:r>
              <a:rPr dirty="0" err="1"/>
              <a:t>qNEHVI</a:t>
            </a:r>
            <a:r>
              <a:rPr dirty="0"/>
              <a:t> once</a:t>
            </a:r>
            <a:r>
              <a:rPr lang="en-US" dirty="0"/>
              <a:t> </a:t>
            </a:r>
            <a:r>
              <a:rPr dirty="0"/>
              <a:t>multi-objective is enabled</a:t>
            </a:r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dirty="0"/>
              <a:t>and calibration is solid.</a:t>
            </a:r>
            <a:endParaRPr lang="en-US"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endParaRPr lang="en-US" dirty="0"/>
          </a:p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Figures to show (next slide): Incredibly TBD, haven’t done real research into how to display. Don’t expect any input till that pipeline is more hashed out. 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657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Stable early loop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Scalable to batch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selection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• Natural transition to</a:t>
            </a:r>
          </a:p>
          <a:p>
            <a:pPr>
              <a:spcAft>
                <a:spcPts val="600"/>
              </a:spcAft>
              <a:defRPr sz="1400">
                <a:solidFill>
                  <a:srgbClr val="3D3D3D"/>
                </a:solidFill>
              </a:defRPr>
            </a:pPr>
            <a:r>
              <a:t>  Pareto later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0AD43-7753-3DE2-618A-F1095969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BA7D27-36D8-B0E4-48B0-2A5A3ACA5CEE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CDFFC-9E9B-9F95-8BAE-397529A2DE89}"/>
              </a:ext>
            </a:extLst>
          </p:cNvPr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8: Acquisition / Selecting Next COMSOL Runs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3A6F2-8A02-C1F1-AF99-F705D5263966}"/>
              </a:ext>
            </a:extLst>
          </p:cNvPr>
          <p:cNvSpPr txBox="1"/>
          <p:nvPr/>
        </p:nvSpPr>
        <p:spPr>
          <a:xfrm>
            <a:off x="275509" y="114537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Convergence History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443C6C-5FCE-2521-0377-CC7A8C1C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7" y="1585548"/>
            <a:ext cx="4998521" cy="1594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0C1318-FA35-3CCA-21E5-514454104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795" y="3924481"/>
            <a:ext cx="3470953" cy="27049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EDE919-FE1E-37E1-9178-D10583DA6348}"/>
              </a:ext>
            </a:extLst>
          </p:cNvPr>
          <p:cNvSpPr txBox="1"/>
          <p:nvPr/>
        </p:nvSpPr>
        <p:spPr>
          <a:xfrm>
            <a:off x="124691" y="4907608"/>
            <a:ext cx="15141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Plot for “Error stabilizes after n runs”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4F294E-833A-743B-CFC4-701B22C23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142" y="3792538"/>
            <a:ext cx="4342167" cy="29688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9E8D56-CC78-744A-1CF8-23EF7D2AE301}"/>
              </a:ext>
            </a:extLst>
          </p:cNvPr>
          <p:cNvSpPr txBox="1"/>
          <p:nvPr/>
        </p:nvSpPr>
        <p:spPr>
          <a:xfrm>
            <a:off x="6968090" y="2137579"/>
            <a:ext cx="1514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Sensitivity Analysis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43D26F-3E13-72F5-53CF-29FCE2FA4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542" y="1145396"/>
            <a:ext cx="3363963" cy="25366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59D089-476F-84DD-36D8-A5ED9CC662CB}"/>
              </a:ext>
            </a:extLst>
          </p:cNvPr>
          <p:cNvSpPr txBox="1"/>
          <p:nvPr/>
        </p:nvSpPr>
        <p:spPr>
          <a:xfrm>
            <a:off x="6363438" y="5029706"/>
            <a:ext cx="15141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7D32"/>
                </a:solidFill>
              </a:defRPr>
            </a:pPr>
            <a:r>
              <a:rPr lang="en-US" dirty="0"/>
              <a:t>“Trade-off” cost function plot; </a:t>
            </a:r>
            <a:r>
              <a:rPr lang="el-GR" dirty="0"/>
              <a:t>Δ</a:t>
            </a:r>
            <a:r>
              <a:rPr lang="en-US" dirty="0"/>
              <a:t>P vs (−Q) vs (−min side-hole flux) or similar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522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3923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Questions </a:t>
            </a:r>
            <a:r>
              <a:rPr lang="en-US" dirty="0" err="1"/>
              <a:t>leftt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</a:defRPr>
            </a:pPr>
            <a:r>
              <a:t>1. What would you change first to make this GP-fit pipeline maximally defensible?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</a:defRPr>
            </a:pPr>
            <a:r>
              <a:t>2. Kernel: Is Matérn 5/2 a good default here; when would you switch?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</a:defRPr>
            </a:pPr>
            <a:r>
              <a:rPr dirty="0"/>
              <a:t>3. Noise: For deterministic-</a:t>
            </a:r>
            <a:r>
              <a:rPr dirty="0" err="1"/>
              <a:t>ish</a:t>
            </a:r>
            <a:r>
              <a:rPr dirty="0"/>
              <a:t> solvers, would you fit noise anyway? Replicate/mesh strategy?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</a:defRPr>
            </a:pPr>
            <a:r>
              <a:t>4. Validation: What split strategy do you trust most for sequential design problems?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</a:defRPr>
            </a:pPr>
            <a:r>
              <a:t>5. Multi-objective: When would you move from single/scalarization to true Pareto?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1528</Words>
  <Application>Microsoft Macintosh PowerPoint</Application>
  <PresentationFormat>Widescreen</PresentationFormat>
  <Paragraphs>363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C</cp:lastModifiedBy>
  <cp:revision>2</cp:revision>
  <dcterms:created xsi:type="dcterms:W3CDTF">2013-01-27T09:14:16Z</dcterms:created>
  <dcterms:modified xsi:type="dcterms:W3CDTF">2026-01-22T05:08:35Z</dcterms:modified>
  <cp:category/>
</cp:coreProperties>
</file>