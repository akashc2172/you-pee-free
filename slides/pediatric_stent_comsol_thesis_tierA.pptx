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52438"/>
                </a:solidFill>
                <a:latin typeface="Arial"/>
              </a:defRPr>
            </a:pPr>
            <a:r>
              <a:t>Pediatric Ureteral Stent Restoration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3291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5C656E"/>
                </a:solidFill>
                <a:latin typeface="Arial"/>
              </a:defRPr>
            </a:pPr>
            <a:r>
              <a:t>Baseline CFD Validation and Tier A Tissue-Context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6E"/>
                </a:solidFill>
                <a:latin typeface="Arial"/>
              </a:defRPr>
            </a:pPr>
            <a:r>
              <a:t>Baseline COMSOL work only where completed; Tier A slides are clearly labeled as planned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6E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438"/>
                </a:solidFill>
                <a:latin typeface="Arial"/>
              </a:defRPr>
            </a:pPr>
            <a:r>
              <a:t>The 3-Cylinder CFD Abstraction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77724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74432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438"/>
                </a:solidFill>
                <a:latin typeface="Arial"/>
              </a:defRPr>
            </a:pPr>
            <a:r>
              <a:t>3-Cylinder CFD Abstraction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2240280" cy="868680"/>
          </a:xfrm>
          <a:prstGeom prst="roundRect">
            <a:avLst/>
          </a:prstGeom>
          <a:solidFill>
            <a:srgbClr val="CBE5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2438"/>
                </a:solidFill>
                <a:latin typeface="Arial"/>
              </a:defRPr>
            </a:pPr>
            <a:r>
              <a:t>Proximal cylinder</a:t>
            </a:r>
            <a:br/>
            <a:r>
              <a:t>renal pelvis / kidney-side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737360"/>
            <a:ext cx="3840480" cy="868680"/>
          </a:xfrm>
          <a:prstGeom prst="roundRect">
            <a:avLst/>
          </a:prstGeom>
          <a:solidFill>
            <a:srgbClr val="D2F4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2438"/>
                </a:solidFill>
                <a:latin typeface="Arial"/>
              </a:defRPr>
            </a:pPr>
            <a:r>
              <a:t>Middle cylinder</a:t>
            </a:r>
            <a:br/>
            <a:r>
              <a:t>ureter shaft transport 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737360"/>
            <a:ext cx="2240280" cy="868680"/>
          </a:xfrm>
          <a:prstGeom prst="roundRect">
            <a:avLst/>
          </a:prstGeom>
          <a:solidFill>
            <a:srgbClr val="FFEBC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2438"/>
                </a:solidFill>
                <a:latin typeface="Arial"/>
              </a:defRPr>
            </a:pPr>
            <a:r>
              <a:t>Distal cylinder</a:t>
            </a:r>
            <a:br/>
            <a:r>
              <a:t>bladder-side reservoir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057400"/>
            <a:ext cx="7818120" cy="164592"/>
          </a:xfrm>
          <a:prstGeom prst="rect">
            <a:avLst/>
          </a:prstGeom>
          <a:solidFill>
            <a:srgbClr val="152438"/>
          </a:solidFill>
          <a:ln>
            <a:solidFill>
              <a:srgbClr val="15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39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 i="0">
                <a:solidFill>
                  <a:srgbClr val="5C656E"/>
                </a:solidFill>
                <a:latin typeface="Arial"/>
              </a:defRPr>
            </a:pPr>
            <a:r>
              <a:t>Imported parametric stent passes through all three fluid 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7315200" cy="274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171B1F"/>
                </a:solidFill>
                <a:latin typeface="Arial"/>
              </a:defRPr>
            </a:pPr>
            <a:r>
              <a:t>Simplifies complex anatomy into repeatable geometric regions.</a:t>
            </a:r>
          </a:p>
          <a:p>
            <a:pPr>
              <a:spcAft>
                <a:spcPts val="500"/>
              </a:spcAft>
              <a:defRPr sz="2000">
                <a:solidFill>
                  <a:srgbClr val="171B1F"/>
                </a:solidFill>
                <a:latin typeface="Arial"/>
              </a:defRPr>
            </a:pPr>
            <a:r>
              <a:t>Kidney (Proximal) and Bladder (Distal) act as reservoir contexts.</a:t>
            </a:r>
          </a:p>
          <a:p>
            <a:pPr>
              <a:spcAft>
                <a:spcPts val="500"/>
              </a:spcAft>
              <a:defRPr sz="2000">
                <a:solidFill>
                  <a:srgbClr val="171B1F"/>
                </a:solidFill>
                <a:latin typeface="Arial"/>
              </a:defRPr>
            </a:pPr>
            <a:r>
              <a:t>Middle Cylinder isolates the shaft transport zone for targeted study.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097280"/>
            <a:ext cx="3017520" cy="4572000"/>
          </a:xfrm>
          <a:prstGeom prst="round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1170432"/>
            <a:ext cx="2688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438"/>
                </a:solidFill>
                <a:latin typeface="Arial"/>
              </a:defRPr>
            </a:pPr>
            <a:r>
              <a:t>Figure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1554480"/>
            <a:ext cx="2615184" cy="3977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i="1">
                <a:solidFill>
                  <a:srgbClr val="5C656E"/>
                </a:solidFill>
                <a:latin typeface="Arial"/>
              </a:defRPr>
            </a:pPr>
            <a:r>
              <a:t>COMSOL Dumbbell</a:t>
            </a:r>
            <a:br/>
            <a:r>
              <a:t>Geometry Snapshot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6E"/>
                </a:solidFill>
                <a:latin typeface="Arial"/>
              </a:defRPr>
            </a:pPr>
            <a:r>
              <a:t>Baseline COMSOL work only where completed; Tier A slides are clearly labeled as planned implementation.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6E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438"/>
                </a:solidFill>
                <a:latin typeface="Arial"/>
              </a:defRPr>
            </a:pPr>
            <a:r>
              <a:t>Baseline Simulation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645920" cy="292608"/>
          </a:xfrm>
          <a:prstGeom prst="roundRect">
            <a:avLst/>
          </a:prstGeom>
          <a:solidFill>
            <a:srgbClr val="12727C"/>
          </a:solidFill>
          <a:ln>
            <a:solidFill>
              <a:srgbClr val="1272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Physics: Single-Phase Laminar Flow (spf)</a:t>
            </a:r>
          </a:p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Boundary: ΔP = 490 Pa (Pressure-driven)</a:t>
            </a:r>
          </a:p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Geometry: 11-parameter LHS sampled batch generation</a:t>
            </a:r>
          </a:p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QC: Mass balance and mesh quality automated gating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303520" cy="4572000"/>
          </a:xfrm>
          <a:prstGeom prst="round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1170432"/>
            <a:ext cx="4974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438"/>
                </a:solidFill>
                <a:latin typeface="Arial"/>
              </a:defRPr>
            </a:pPr>
            <a:r>
              <a:t>Figure 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1554480"/>
            <a:ext cx="4901183" cy="3977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i="1">
                <a:solidFill>
                  <a:srgbClr val="5C656E"/>
                </a:solidFill>
                <a:latin typeface="Arial"/>
              </a:defRPr>
            </a:pPr>
            <a:r>
              <a:t>Baseline Velocity Field</a:t>
            </a:r>
            <a:br/>
            <a:r>
              <a:t>(Screenshot)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6E"/>
                </a:solidFill>
                <a:latin typeface="Arial"/>
              </a:defRPr>
            </a:pPr>
            <a:r>
              <a:t>Baseline COMSOL work only where completed; Tier A slides are clearly labeled as planned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6E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438"/>
                </a:solidFill>
                <a:latin typeface="Arial"/>
              </a:defRPr>
            </a:pPr>
            <a:r>
              <a:t>Tier A: Peristaltic Load Planning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645920" cy="292608"/>
          </a:xfrm>
          <a:prstGeom prst="roundRect">
            <a:avLst/>
          </a:prstGeom>
          <a:solidFill>
            <a:srgbClr val="C68A18"/>
          </a:solidFill>
          <a:ln>
            <a:solidFill>
              <a:srgbClr val="C68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171B1F"/>
                </a:solidFill>
                <a:latin typeface="Arial"/>
              </a:defRPr>
            </a:pPr>
            <a:r>
              <a:t>P_ext(z,t) = P0 + A sin(k z - ω 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2743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Target: Middle-cylinder radial loading only.</a:t>
            </a:r>
          </a:p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Physiologic amplitude: 5–25 cm H20 scaling.</a:t>
            </a:r>
          </a:p>
          <a:p>
            <a:pPr>
              <a:spcAft>
                <a:spcPts val="500"/>
              </a:spcAft>
              <a:defRPr sz="2200">
                <a:solidFill>
                  <a:srgbClr val="171B1F"/>
                </a:solidFill>
                <a:latin typeface="Arial"/>
              </a:defRPr>
            </a:pPr>
            <a:r>
              <a:t>Implementation: Prescribed geometry constriction phases.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4572000"/>
          </a:xfrm>
          <a:prstGeom prst="round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170432"/>
            <a:ext cx="49743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438"/>
                </a:solidFill>
                <a:latin typeface="Arial"/>
              </a:defRPr>
            </a:pPr>
            <a:r>
              <a:t>Figure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554480"/>
            <a:ext cx="4901183" cy="3977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i="1">
                <a:solidFill>
                  <a:srgbClr val="5C656E"/>
                </a:solidFill>
                <a:latin typeface="Arial"/>
              </a:defRPr>
            </a:pPr>
            <a:r>
              <a:t>Expected Tier A</a:t>
            </a:r>
            <a:br/>
            <a:r>
              <a:t>Constriction Schematic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6E"/>
                </a:solidFill>
                <a:latin typeface="Arial"/>
              </a:defRPr>
            </a:pPr>
            <a:r>
              <a:t>Baseline COMSOL work only where completed; Tier A slides are clearly labeled as planned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6E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438"/>
                </a:solidFill>
                <a:latin typeface="Arial"/>
              </a:defRPr>
            </a:pPr>
            <a:r>
              <a:t>Evidence &amp; Constraint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286000" cy="731520"/>
          </a:xfrm>
          <a:prstGeom prst="rect">
            <a:avLst/>
          </a:prstGeom>
          <a:solidFill>
            <a:srgbClr val="1524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4572000" cy="731520"/>
          </a:xfrm>
          <a:prstGeom prst="rect">
            <a:avLst/>
          </a:prstGeom>
          <a:solidFill>
            <a:srgbClr val="1524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Truth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389120" cy="731520"/>
          </a:xfrm>
          <a:prstGeom prst="rect">
            <a:avLst/>
          </a:prstGeom>
          <a:solidFill>
            <a:srgbClr val="1524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286000" cy="731520"/>
          </a:xfrm>
          <a:prstGeom prst="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03120"/>
            <a:ext cx="4572000" cy="731520"/>
          </a:xfrm>
          <a:prstGeom prst="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Automation pipeline functional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103120"/>
            <a:ext cx="4389120" cy="731520"/>
          </a:xfrm>
          <a:prstGeom prst="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Rigid walls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39"/>
            <a:ext cx="2286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Hierarchy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834639"/>
            <a:ext cx="45720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Dumbbell is an abstraction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834639"/>
            <a:ext cx="43891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Not anatomical surgery-planning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59"/>
            <a:ext cx="2286000" cy="731520"/>
          </a:xfrm>
          <a:prstGeom prst="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Tier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566159"/>
            <a:ext cx="4572000" cy="731520"/>
          </a:xfrm>
          <a:prstGeom prst="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Proposed loading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566159"/>
            <a:ext cx="4389120" cy="731520"/>
          </a:xfrm>
          <a:prstGeom prst="rect">
            <a:avLst/>
          </a:prstGeom>
          <a:solidFill>
            <a:srgbClr val="F6F8FA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171B1F"/>
                </a:solidFill>
                <a:latin typeface="Arial"/>
              </a:defRPr>
            </a:pPr>
            <a:r>
              <a:t>No fabricated deformable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 i="1">
                <a:solidFill>
                  <a:srgbClr val="5C656E"/>
                </a:solidFill>
                <a:latin typeface="Arial"/>
              </a:defRPr>
            </a:pPr>
            <a:r>
              <a:t>The pipeline is designed for objective 100+ design campaigns, not patient-specific clinical diagnosis.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6E"/>
                </a:solidFill>
                <a:latin typeface="Arial"/>
              </a:defRPr>
            </a:pPr>
            <a:r>
              <a:t>Baseline COMSOL work only where completed; Tier A slides are clearly labeled as planned implementation.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6E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2438"/>
                </a:solidFill>
                <a:latin typeface="Arial"/>
              </a:defRPr>
            </a:pPr>
            <a:r>
              <a:t>Next Steps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spcAft>
                <a:spcPts val="500"/>
              </a:spcAft>
              <a:defRPr sz="2400">
                <a:solidFill>
                  <a:srgbClr val="171B1F"/>
                </a:solidFill>
                <a:latin typeface="Arial"/>
              </a:defRPr>
            </a:pPr>
            <a:r>
              <a:t>Harden mesh-clamping logic to stabilize batch 1 conversion.</a:t>
            </a:r>
          </a:p>
          <a:p>
            <a:pPr>
              <a:spcAft>
                <a:spcPts val="500"/>
              </a:spcAft>
              <a:defRPr sz="2400">
                <a:solidFill>
                  <a:srgbClr val="171B1F"/>
                </a:solidFill>
                <a:latin typeface="Arial"/>
              </a:defRPr>
            </a:pPr>
            <a:r>
              <a:t>Execute 60-design LHS 'Stage 1' baseline campaign.</a:t>
            </a:r>
          </a:p>
          <a:p>
            <a:pPr>
              <a:spcAft>
                <a:spcPts val="500"/>
              </a:spcAft>
              <a:defRPr sz="2400">
                <a:solidFill>
                  <a:srgbClr val="171B1F"/>
                </a:solidFill>
                <a:latin typeface="Arial"/>
              </a:defRPr>
            </a:pPr>
            <a:r>
              <a:t>Implement Tier A 'Single Phase' wave snapshot study.</a:t>
            </a:r>
          </a:p>
          <a:p>
            <a:pPr>
              <a:spcAft>
                <a:spcPts val="500"/>
              </a:spcAft>
              <a:defRPr sz="2400">
                <a:solidFill>
                  <a:srgbClr val="171B1F"/>
                </a:solidFill>
                <a:latin typeface="Arial"/>
              </a:defRPr>
            </a:pPr>
            <a:r>
              <a:t>Retrain Bayesian Surrogate on loaded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446520"/>
            <a:ext cx="11338560" cy="18288"/>
          </a:xfrm>
          <a:prstGeom prst="rect">
            <a:avLst/>
          </a:prstGeom>
          <a:solidFill>
            <a:srgbClr val="E9EEF3"/>
          </a:solidFill>
          <a:ln>
            <a:solidFill>
              <a:srgbClr val="E9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56E"/>
                </a:solidFill>
                <a:latin typeface="Arial"/>
              </a:defRPr>
            </a:pPr>
            <a:r>
              <a:t>Baseline COMSOL work only where completed; Tier A slides are clearly labeled as planned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56E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